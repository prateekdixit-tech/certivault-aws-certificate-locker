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My project is called CertiVault — a Secure Cloud Certificate Locker built using AWS S3 and AWS IAM, as part of my IBM Cloud Computing internship.
--- Hindi / हिंदी ---
सभी को नमस्कार। मेरा प्रोजेक्ट है CertiVault — यह एक सुरक्षित क्लाउड सर्टिफिकेट लॉकर है, जो AWS S3 और AWS IAM का उपयोग करके बनाया गया है। यह मेरा IBM क्लाउड कंप्यूटिंग इंटर्नशिप प्रोजेक्ट 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CertiVault solves a simple, real problem: certificates get scattered across emails and folders. This app gives every certificate one secure, searchable home, using cloud storage and access-control ideas from AWS.
--- Hindi / हिंदी ---
CertiVault एक आसान लेकिन असली समस्या हल करता है: सर्टिफिकेट अलग-अलग जगह बिखर जाते हैं। यह ऐप हर सर्टिफिकेट को एक जगह, सुरक्षित और खोजने लायक बनाता है, AWS के क्लाउड स्टोरेज सिद्धांतों का उपयोग करके।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simple: there's no dedicated, easy tool to store and organize certificates. People rely on scattered emails and folders, which makes certificates hard to find and easy to lose.
--- Hindi / हिंदी ---
समस्या सीधी है: सर्टिफिकेट को स्टोर और व्यवस्थित करने के लिए कोई खास और आसान टूल नहीं है। लोग बिखरे हुए ईमेल और फोल्डर पर निर्भर रहते हैं, जिससे सर्टिफिकेट ढूंढना मुश्किल और खोना आसान हो जाता 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objectives were to build a working UI for managing certificates, demonstrate how S3 and IAM would secure it, design something that looks professional, and end up with a project I can genuinely explain and put on my resume.
--- Hindi / हिंदी ---
मेरा उद्देश्य था एक काम करने वाला यूज़र इंटरफेस बनाना, यह दिखाना कि S3 और IAM इसे कैसे सुरक्षित रखेंगे, एक प्रोफेशनल डिज़ाइन बनाना, और एक ऐसा प्रोजेक्ट तैयार करना जिसे मैं आसानी से समझा सकूं और अपने रिज्यूमे में डाल सकूं।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now, most people manage certificates informally — emails, folders, printouts. These methods have no search, no categorization, and no real security, which is exactly the gap CertiVault fills.
--- Hindi / हिंदी ---
आज ज्यादातर लोग सर्टिफिकेट को अनौपचारिक तरीके से रखते हैं — ईमेल, फोल्डर, प्रिंटआउट। इनमें खोज, वर्गीकरण या असली सुरक्षा नहीं होती — यही कमी CertiVault पूरी करता 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CertiVault's solution has three pillars: certificates are automatically organized by category, instantly searchable, and conceptually secured the way a real production system would be, using Amazon S3 and IAM.
--- Hindi / हिंदी ---
CertiVault के समाधान के तीन मुख्य आधार हैं: सर्टिफिकेट श्रेणी अनुसार अपने आप व्यवस्थित होते हैं, तुरंत खोजे जा सकते हैं, और Amazon S3 व IAM का उपयोग करते हुए असली सिस्टम जैसी सुरक्षा दी गई 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flow: the user's browser talks to the CertiVault app. The app authenticates through AWS IAM, which then authorizes secure access to the private S3 bucket where certificate files are stored.
--- Hindi / हिंदी ---
यह डायग्राम दिखाता है: यूज़र का ब्राउज़र CertiVault ऐप से बात करता है। ऐप AWS IAM के ज़रिए प्रमाणित होता है, जो निजी S3 बकेट तक सुरक्षित पहुंच देता है जहां सर्टिफिकेट फाइलें रखी जाती 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S3 is where certificate files actually live as objects. The bucket is private, organized into folders by category, and designed for extremely high durability, so files are essentially never lost.
--- Hindi / हिंदी ---
Amazon S3 वह जगह है जहां सर्टिफिकेट फाइलें ऑब्जेक्ट के रूप में रखी जाती हैं। बकेट निजी है, श्रेणी अनुसार फोल्डर में व्यवस्थित है, और बेहद उच्च स्थायित्व के लिए बनाई गई है, जिससे फाइलें लगभग कभी नहीं खोतीं।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AWS IAM manages security. We create a dedicated IAM user just for the app, attach a policy that lists exactly which S3 actions are allowed, and follow the least-privilege principle so permissions stay as narrow as possible.
--- Hindi / हिंदी ---
AWS IAM सुरक्षा को नियंत्रित करता है। हम ऐप के लिए एक खास IAM यूज़र बनाते हैं, एक पॉलिसी जोड़ते हैं जो बताती है कि कौन-कौन सी S3 क्रियाएं करने की अनुमति है, और least-privilege सिद्धांत अपनाते हैं ताकि अनुमतियां सीमित रहें।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is simple: log in, pick a file and category, the app requests a signed URL through IAM, the file uploads straight to the private S3 bucket, and it instantly appears in the dashboard and gallery.
--- Hindi / हिंदी ---
वर्कफ़्लो सीधा है: लॉगिन करें, फाइल और श्रेणी चुनें, ऐप IAM के ज़रिए एक sign की हुई URL मांगता है, फाइल सीधे निजी S3 बकेट में अपलोड होती है, और यह तुरंत डैशबोर्ड व गैलरी में दिखाई देती 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CertiVault supports the full lifecycle of a certificate: upload, view, search, filter by category, download, and delete — all backed by a dashboard and an IAM-based security model.
--- Hindi / हिंदी ---
CertiVault सर्टिफिकेट के पूरे जीवनचक्र को सपोर्ट करता है: अपलोड, देखना, खोजना, श्रेणी अनुसार फ़िल्टर करना, डाउनलोड करना और डिलीट करना — यह सब एक डैशबोर्ड और IAM आधारित सुरक्षा मॉडल के साथ।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I'll walk through the live app: starting at the home page, logging in, viewing the dashboard, uploading a certificate, searching the gallery, and checking the profile page's storage usage.
--- Hindi / हिंदी ---
अब मैं लाइव ऐप दिखाता हूं: होम पेज से शुरू करके, लॉगिन करके, डैशबोर्ड देखकर, एक सर्टिफिकेट अपलोड करके, गैलरी में खोजकर, और प्रोफाइल पेज पर स्टोरेज उपयोग देखकर।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challenges were learning AWS concepts from zero, keeping the project honest about what's simulated versus real, designing a professional-looking UI without frameworks, and finishing everything on a tight deadline.
--- Hindi / हिंदी ---
सबसे बड़ी चुनौतियां थीं: शुरुआत से AWS सीखना, यह ईमानदारी से बताना कि क्या असली है और क्या सिम्युलेटेड, बिना फ्रेमवर्क के एक प्रोफेशनल यूज़र इंटरफेस डिज़ाइन करना, और सब कुछ कम समय में पूरा करना।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this project can grow with real AWS Cognito authentication, live S3 integration, Lambda-based thumbnails, CloudFront for speed, SES for email alerts, and multi-file uploads.
--- Hindi / हिंदी ---
आगे देखते हुए, यह प्रोजेक्ट असली AWS Cognito प्रमाणीकरण, लाइव S3 इंटीग्रेशन, Lambda आधारित थंबनेल, तेज़ CloudFront, ईमेल अलर्ट के लिए SES, और मल्टी-फाइल अपलोड के साथ आगे बढ़ सकता 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CertiVault shows how a real, everyday problem can be solved using cloud storage and access-control principles. It's a small project, but it reflects genuine production-style thinking.
--- Hindi / हिंदी ---
निष्कर्ष में, CertiVault दिखाता है कि एक असली, रोज़मर्रा की समस्या को क्लाउड स्टोरेज और एक्सेस-कंट्रोल सिद्धांतों से कैसे हल किया जा सकता है। यह एक छोटा प्रोजेक्ट है, लेकिन इसमें असली प्रोडक्शन जैसी सोच झलकती 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I'm happy to answer any questions about CertiVault, the AWS architecture, or anything else about the project.
--- Hindi / हिंदी ---
सुनने के लिए धन्यवाद। मैं CertiVault, AWS आर्किटेक्चर, या प्रोजेक्ट से जुड़े किसी भी सवाल का जवाब देने के लिए तैयार 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1828800" y="-2011680"/>
            <a:ext cx="5486400" cy="5486400"/>
          </a:xfrm>
          <a:prstGeom prst="ellipse">
            <a:avLst/>
          </a:prstGeom>
          <a:solidFill>
            <a:srgbClr val="6D5EFC">
              <a:alpha val="22000"/>
            </a:srgbClr>
          </a:solidFill>
          <a:ln/>
        </p:spPr>
      </p:sp>
      <p:sp>
        <p:nvSpPr>
          <p:cNvPr id="3" name="Shape 1"/>
          <p:cNvSpPr/>
          <p:nvPr/>
        </p:nvSpPr>
        <p:spPr>
          <a:xfrm>
            <a:off x="8686800" y="3657600"/>
            <a:ext cx="5029200" cy="5029200"/>
          </a:xfrm>
          <a:prstGeom prst="ellipse">
            <a:avLst/>
          </a:prstGeom>
          <a:solidFill>
            <a:srgbClr val="24D3EE">
              <a:alpha val="18000"/>
            </a:srgbClr>
          </a:solidFill>
          <a:ln/>
        </p:spPr>
      </p:sp>
      <p:sp>
        <p:nvSpPr>
          <p:cNvPr id="4" name="Shape 2"/>
          <p:cNvSpPr/>
          <p:nvPr/>
        </p:nvSpPr>
        <p:spPr>
          <a:xfrm>
            <a:off x="4937760" y="1371600"/>
            <a:ext cx="2286000" cy="2286000"/>
          </a:xfrm>
          <a:prstGeom prst="roundRect">
            <a:avLst>
              <a:gd name="adj" fmla="val 20000"/>
            </a:avLst>
          </a:prstGeom>
          <a:solidFill>
            <a:srgbClr val="6D5EFC"/>
          </a:solidFill>
          <a:ln/>
          <a:effectLst>
            <a:outerShdw sx="100000" sy="100000" kx="0" ky="0" algn="bl" rotWithShape="0" blurRad="228600" dist="76200" dir="5400000">
              <a:srgbClr val="000000">
                <a:alpha val="40000"/>
              </a:srgbClr>
            </a:outerShdw>
          </a:effectLst>
        </p:spPr>
      </p:sp>
      <p:sp>
        <p:nvSpPr>
          <p:cNvPr id="5" name="Text 3"/>
          <p:cNvSpPr/>
          <p:nvPr/>
        </p:nvSpPr>
        <p:spPr>
          <a:xfrm>
            <a:off x="4937760" y="1371600"/>
            <a:ext cx="2286000" cy="228600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6" name="Text 4"/>
          <p:cNvSpPr/>
          <p:nvPr/>
        </p:nvSpPr>
        <p:spPr>
          <a:xfrm>
            <a:off x="0" y="3794760"/>
            <a:ext cx="12161520" cy="1005840"/>
          </a:xfrm>
          <a:prstGeom prst="rect">
            <a:avLst/>
          </a:prstGeom>
          <a:noFill/>
          <a:ln/>
        </p:spPr>
        <p:txBody>
          <a:bodyPr wrap="square" rtlCol="0" anchor="ctr"/>
          <a:lstStyle/>
          <a:p>
            <a:pPr algn="ctr" indent="0" marL="0">
              <a:buNone/>
            </a:pPr>
            <a:r>
              <a:rPr lang="en-US" sz="5400" b="1" dirty="0">
                <a:solidFill>
                  <a:srgbClr val="F1F3FB"/>
                </a:solidFill>
                <a:latin typeface="Poppins" pitchFamily="34" charset="0"/>
                <a:ea typeface="Poppins" pitchFamily="34" charset="-122"/>
                <a:cs typeface="Poppins" pitchFamily="34" charset="-120"/>
              </a:rPr>
              <a:t>CertiVault</a:t>
            </a:r>
            <a:endParaRPr lang="en-US" sz="5400" dirty="0"/>
          </a:p>
        </p:txBody>
      </p:sp>
      <p:sp>
        <p:nvSpPr>
          <p:cNvPr id="7" name="Text 5"/>
          <p:cNvSpPr/>
          <p:nvPr/>
        </p:nvSpPr>
        <p:spPr>
          <a:xfrm>
            <a:off x="0" y="4754880"/>
            <a:ext cx="12161520" cy="548640"/>
          </a:xfrm>
          <a:prstGeom prst="rect">
            <a:avLst/>
          </a:prstGeom>
          <a:noFill/>
          <a:ln/>
        </p:spPr>
        <p:txBody>
          <a:bodyPr wrap="square" rtlCol="0" anchor="ctr"/>
          <a:lstStyle/>
          <a:p>
            <a:pPr algn="ctr" indent="0" marL="0">
              <a:buNone/>
            </a:pPr>
            <a:r>
              <a:rPr lang="en-US" sz="1900" dirty="0">
                <a:solidFill>
                  <a:srgbClr val="24D3EE"/>
                </a:solidFill>
                <a:latin typeface="Poppins" pitchFamily="34" charset="0"/>
                <a:ea typeface="Poppins" pitchFamily="34" charset="-122"/>
                <a:cs typeface="Poppins" pitchFamily="34" charset="-120"/>
              </a:rPr>
              <a:t>Secure Cloud Certificate Locker using AWS S3 &amp; IAM</a:t>
            </a:r>
            <a:endParaRPr lang="en-US" sz="1900" dirty="0"/>
          </a:p>
        </p:txBody>
      </p:sp>
      <p:sp>
        <p:nvSpPr>
          <p:cNvPr id="8" name="Text 6"/>
          <p:cNvSpPr/>
          <p:nvPr/>
        </p:nvSpPr>
        <p:spPr>
          <a:xfrm>
            <a:off x="0" y="6126480"/>
            <a:ext cx="12161520" cy="457200"/>
          </a:xfrm>
          <a:prstGeom prst="rect">
            <a:avLst/>
          </a:prstGeom>
          <a:noFill/>
          <a:ln/>
        </p:spPr>
        <p:txBody>
          <a:bodyPr wrap="square" rtlCol="0" anchor="ctr"/>
          <a:lstStyle/>
          <a:p>
            <a:pPr algn="ctr" indent="0" marL="0">
              <a:buNone/>
            </a:pPr>
            <a:r>
              <a:rPr lang="en-US" sz="1300" dirty="0">
                <a:solidFill>
                  <a:srgbClr val="A9B0C6"/>
                </a:solidFill>
                <a:latin typeface="Poppins" pitchFamily="34" charset="0"/>
                <a:ea typeface="Poppins" pitchFamily="34" charset="-122"/>
                <a:cs typeface="Poppins" pitchFamily="34" charset="-120"/>
              </a:rPr>
              <a:t>IBM Cloud Computing Internship Project  •  Presented by Prateek</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457200" y="411480"/>
            <a:ext cx="2377440" cy="384048"/>
          </a:xfrm>
          <a:prstGeom prst="roundRect">
            <a:avLst>
              <a:gd name="adj" fmla="val 50000"/>
            </a:avLst>
          </a:prstGeom>
          <a:solidFill>
            <a:srgbClr val="24D3EE">
              <a:alpha val="15000"/>
            </a:srgbClr>
          </a:solidFill>
          <a:ln w="12700">
            <a:solidFill>
              <a:srgbClr val="24D3EE"/>
            </a:solidFill>
            <a:prstDash val="solid"/>
          </a:ln>
        </p:spPr>
      </p:sp>
      <p:sp>
        <p:nvSpPr>
          <p:cNvPr id="3" name="Text 1"/>
          <p:cNvSpPr/>
          <p:nvPr/>
        </p:nvSpPr>
        <p:spPr>
          <a:xfrm>
            <a:off x="457200" y="411480"/>
            <a:ext cx="2377440" cy="384048"/>
          </a:xfrm>
          <a:prstGeom prst="rect">
            <a:avLst/>
          </a:prstGeom>
          <a:noFill/>
          <a:ln/>
        </p:spPr>
        <p:txBody>
          <a:bodyPr wrap="square" rtlCol="0" anchor="ctr"/>
          <a:lstStyle/>
          <a:p>
            <a:pPr algn="ctr" indent="0" marL="0">
              <a:buNone/>
            </a:pPr>
            <a:r>
              <a:rPr lang="en-US" sz="1100" b="1" spc="100" kern="0" dirty="0">
                <a:solidFill>
                  <a:srgbClr val="24D3EE"/>
                </a:solidFill>
                <a:latin typeface="Poppins" pitchFamily="34" charset="0"/>
                <a:ea typeface="Poppins" pitchFamily="34" charset="-122"/>
                <a:cs typeface="Poppins" pitchFamily="34" charset="-120"/>
              </a:rPr>
              <a:t>INTRODUCTION</a:t>
            </a:r>
            <a:endParaRPr lang="en-US" sz="1100" dirty="0"/>
          </a:p>
        </p:txBody>
      </p:sp>
      <p:sp>
        <p:nvSpPr>
          <p:cNvPr id="4" name="Text 2"/>
          <p:cNvSpPr/>
          <p:nvPr/>
        </p:nvSpPr>
        <p:spPr>
          <a:xfrm>
            <a:off x="457200" y="914400"/>
            <a:ext cx="11247120" cy="822960"/>
          </a:xfrm>
          <a:prstGeom prst="rect">
            <a:avLst/>
          </a:prstGeom>
          <a:noFill/>
          <a:ln/>
        </p:spPr>
        <p:txBody>
          <a:bodyPr wrap="square" lIns="0" tIns="0" rIns="0" bIns="0" rtlCol="0" anchor="ctr"/>
          <a:lstStyle/>
          <a:p>
            <a:pPr indent="0" marL="0">
              <a:buNone/>
            </a:pPr>
            <a:r>
              <a:rPr lang="en-US" sz="3200" b="1" dirty="0">
                <a:solidFill>
                  <a:srgbClr val="F1F3FB"/>
                </a:solidFill>
                <a:latin typeface="Poppins" pitchFamily="34" charset="0"/>
                <a:ea typeface="Poppins" pitchFamily="34" charset="-122"/>
                <a:cs typeface="Poppins" pitchFamily="34" charset="-120"/>
              </a:rPr>
              <a:t>What is CertiVault?</a:t>
            </a:r>
            <a:endParaRPr lang="en-US" sz="3200" dirty="0"/>
          </a:p>
        </p:txBody>
      </p:sp>
      <p:sp>
        <p:nvSpPr>
          <p:cNvPr id="5" name="Text 3"/>
          <p:cNvSpPr/>
          <p:nvPr/>
        </p:nvSpPr>
        <p:spPr>
          <a:xfrm>
            <a:off x="457200" y="1920240"/>
            <a:ext cx="5852160" cy="2194560"/>
          </a:xfrm>
          <a:prstGeom prst="rect">
            <a:avLst/>
          </a:prstGeom>
          <a:noFill/>
          <a:ln/>
        </p:spPr>
        <p:txBody>
          <a:bodyPr wrap="square" rtlCol="0" anchor="ctr"/>
          <a:lstStyle/>
          <a:p>
            <a:pPr indent="0" marL="0">
              <a:lnSpc>
                <a:spcPct val="140000"/>
              </a:lnSpc>
              <a:buNone/>
            </a:pPr>
            <a:r>
              <a:rPr lang="en-US" sz="1600" dirty="0">
                <a:solidFill>
                  <a:srgbClr val="A9B0C6"/>
                </a:solidFill>
                <a:latin typeface="Poppins" pitchFamily="34" charset="0"/>
                <a:ea typeface="Poppins" pitchFamily="34" charset="-122"/>
                <a:cs typeface="Poppins" pitchFamily="34" charset="-120"/>
              </a:rPr>
              <a:t>CertiVault is a cloud-based web application that lets users securely upload, organize, search, and manage all their certificates — internship, academic, and achievement — in one place.</a:t>
            </a:r>
            <a:endParaRPr lang="en-US" sz="1600" dirty="0"/>
          </a:p>
        </p:txBody>
      </p:sp>
      <p:sp>
        <p:nvSpPr>
          <p:cNvPr id="6" name="Shape 4"/>
          <p:cNvSpPr/>
          <p:nvPr/>
        </p:nvSpPr>
        <p:spPr>
          <a:xfrm>
            <a:off x="457200" y="4297680"/>
            <a:ext cx="1828800" cy="1828800"/>
          </a:xfrm>
          <a:prstGeom prst="roundRect">
            <a:avLst>
              <a:gd name="adj" fmla="val 9000"/>
            </a:avLst>
          </a:prstGeom>
          <a:solidFill>
            <a:srgbClr val="161C2E"/>
          </a:solidFill>
          <a:ln w="19050">
            <a:solidFill>
              <a:srgbClr val="6D5EFC"/>
            </a:solidFill>
            <a:prstDash val="solid"/>
          </a:ln>
        </p:spPr>
      </p:sp>
      <p:sp>
        <p:nvSpPr>
          <p:cNvPr id="7" name="Text 5"/>
          <p:cNvSpPr/>
          <p:nvPr/>
        </p:nvSpPr>
        <p:spPr>
          <a:xfrm>
            <a:off x="457200" y="4434840"/>
            <a:ext cx="1828800" cy="822960"/>
          </a:xfrm>
          <a:prstGeom prst="rect">
            <a:avLst/>
          </a:prstGeom>
          <a:noFill/>
          <a:ln/>
        </p:spPr>
        <p:txBody>
          <a:bodyPr wrap="square" rtlCol="0" anchor="ctr"/>
          <a:lstStyle/>
          <a:p>
            <a:pPr algn="ctr" indent="0" marL="0">
              <a:buNone/>
            </a:pPr>
            <a:r>
              <a:rPr lang="en-US" sz="3400" dirty="0">
                <a:solidFill>
                  <a:srgbClr val="000000"/>
                </a:solidFill>
              </a:rPr>
              <a:t>📤</a:t>
            </a:r>
            <a:endParaRPr lang="en-US" sz="3400" dirty="0"/>
          </a:p>
        </p:txBody>
      </p:sp>
      <p:sp>
        <p:nvSpPr>
          <p:cNvPr id="8" name="Text 6"/>
          <p:cNvSpPr/>
          <p:nvPr/>
        </p:nvSpPr>
        <p:spPr>
          <a:xfrm>
            <a:off x="457200" y="5257800"/>
            <a:ext cx="1828800" cy="640080"/>
          </a:xfrm>
          <a:prstGeom prst="rect">
            <a:avLst/>
          </a:prstGeom>
          <a:noFill/>
          <a:ln/>
        </p:spPr>
        <p:txBody>
          <a:bodyPr wrap="square" rtlCol="0" anchor="ctr"/>
          <a:lstStyle/>
          <a:p>
            <a:pPr algn="ctr" indent="0" marL="0">
              <a:buNone/>
            </a:pPr>
            <a:r>
              <a:rPr lang="en-US" sz="1200" b="1" dirty="0">
                <a:solidFill>
                  <a:srgbClr val="F1F3FB"/>
                </a:solidFill>
                <a:latin typeface="Poppins" pitchFamily="34" charset="0"/>
                <a:ea typeface="Poppins" pitchFamily="34" charset="-122"/>
                <a:cs typeface="Poppins" pitchFamily="34" charset="-120"/>
              </a:rPr>
              <a:t>Upload &amp; Store</a:t>
            </a:r>
            <a:endParaRPr lang="en-US" sz="1200" dirty="0"/>
          </a:p>
        </p:txBody>
      </p:sp>
      <p:sp>
        <p:nvSpPr>
          <p:cNvPr id="9" name="Shape 7"/>
          <p:cNvSpPr/>
          <p:nvPr/>
        </p:nvSpPr>
        <p:spPr>
          <a:xfrm>
            <a:off x="2514600" y="4297680"/>
            <a:ext cx="1828800" cy="1828800"/>
          </a:xfrm>
          <a:prstGeom prst="roundRect">
            <a:avLst>
              <a:gd name="adj" fmla="val 9000"/>
            </a:avLst>
          </a:prstGeom>
          <a:solidFill>
            <a:srgbClr val="161C2E"/>
          </a:solidFill>
          <a:ln w="19050">
            <a:solidFill>
              <a:srgbClr val="33E6A4"/>
            </a:solidFill>
            <a:prstDash val="solid"/>
          </a:ln>
        </p:spPr>
      </p:sp>
      <p:sp>
        <p:nvSpPr>
          <p:cNvPr id="10" name="Text 8"/>
          <p:cNvSpPr/>
          <p:nvPr/>
        </p:nvSpPr>
        <p:spPr>
          <a:xfrm>
            <a:off x="2514600" y="4434840"/>
            <a:ext cx="1828800" cy="822960"/>
          </a:xfrm>
          <a:prstGeom prst="rect">
            <a:avLst/>
          </a:prstGeom>
          <a:noFill/>
          <a:ln/>
        </p:spPr>
        <p:txBody>
          <a:bodyPr wrap="square" rtlCol="0" anchor="ctr"/>
          <a:lstStyle/>
          <a:p>
            <a:pPr algn="ctr" indent="0" marL="0">
              <a:buNone/>
            </a:pPr>
            <a:r>
              <a:rPr lang="en-US" sz="3400" dirty="0">
                <a:solidFill>
                  <a:srgbClr val="000000"/>
                </a:solidFill>
              </a:rPr>
              <a:t>🔍</a:t>
            </a:r>
            <a:endParaRPr lang="en-US" sz="3400" dirty="0"/>
          </a:p>
        </p:txBody>
      </p:sp>
      <p:sp>
        <p:nvSpPr>
          <p:cNvPr id="11" name="Text 9"/>
          <p:cNvSpPr/>
          <p:nvPr/>
        </p:nvSpPr>
        <p:spPr>
          <a:xfrm>
            <a:off x="2514600" y="5257800"/>
            <a:ext cx="1828800" cy="640080"/>
          </a:xfrm>
          <a:prstGeom prst="rect">
            <a:avLst/>
          </a:prstGeom>
          <a:noFill/>
          <a:ln/>
        </p:spPr>
        <p:txBody>
          <a:bodyPr wrap="square" rtlCol="0" anchor="ctr"/>
          <a:lstStyle/>
          <a:p>
            <a:pPr algn="ctr" indent="0" marL="0">
              <a:buNone/>
            </a:pPr>
            <a:r>
              <a:rPr lang="en-US" sz="1200" b="1" dirty="0">
                <a:solidFill>
                  <a:srgbClr val="F1F3FB"/>
                </a:solidFill>
                <a:latin typeface="Poppins" pitchFamily="34" charset="0"/>
                <a:ea typeface="Poppins" pitchFamily="34" charset="-122"/>
                <a:cs typeface="Poppins" pitchFamily="34" charset="-120"/>
              </a:rPr>
              <a:t>Search &amp; Filter</a:t>
            </a:r>
            <a:endParaRPr lang="en-US" sz="1200" dirty="0"/>
          </a:p>
        </p:txBody>
      </p:sp>
      <p:sp>
        <p:nvSpPr>
          <p:cNvPr id="12" name="Shape 10"/>
          <p:cNvSpPr/>
          <p:nvPr/>
        </p:nvSpPr>
        <p:spPr>
          <a:xfrm>
            <a:off x="4572000" y="4297680"/>
            <a:ext cx="1828800" cy="1828800"/>
          </a:xfrm>
          <a:prstGeom prst="roundRect">
            <a:avLst>
              <a:gd name="adj" fmla="val 9000"/>
            </a:avLst>
          </a:prstGeom>
          <a:solidFill>
            <a:srgbClr val="161C2E"/>
          </a:solidFill>
          <a:ln w="19050">
            <a:solidFill>
              <a:srgbClr val="FFB454"/>
            </a:solidFill>
            <a:prstDash val="solid"/>
          </a:ln>
        </p:spPr>
      </p:sp>
      <p:sp>
        <p:nvSpPr>
          <p:cNvPr id="13" name="Text 11"/>
          <p:cNvSpPr/>
          <p:nvPr/>
        </p:nvSpPr>
        <p:spPr>
          <a:xfrm>
            <a:off x="4572000" y="4434840"/>
            <a:ext cx="1828800" cy="822960"/>
          </a:xfrm>
          <a:prstGeom prst="rect">
            <a:avLst/>
          </a:prstGeom>
          <a:noFill/>
          <a:ln/>
        </p:spPr>
        <p:txBody>
          <a:bodyPr wrap="square" rtlCol="0" anchor="ctr"/>
          <a:lstStyle/>
          <a:p>
            <a:pPr algn="ctr" indent="0" marL="0">
              <a:buNone/>
            </a:pPr>
            <a:r>
              <a:rPr lang="en-US" sz="3400" dirty="0">
                <a:solidFill>
                  <a:srgbClr val="000000"/>
                </a:solidFill>
              </a:rPr>
              <a:t>☁️</a:t>
            </a:r>
            <a:endParaRPr lang="en-US" sz="3400" dirty="0"/>
          </a:p>
        </p:txBody>
      </p:sp>
      <p:sp>
        <p:nvSpPr>
          <p:cNvPr id="14" name="Text 12"/>
          <p:cNvSpPr/>
          <p:nvPr/>
        </p:nvSpPr>
        <p:spPr>
          <a:xfrm>
            <a:off x="4572000" y="5257800"/>
            <a:ext cx="1828800" cy="640080"/>
          </a:xfrm>
          <a:prstGeom prst="rect">
            <a:avLst/>
          </a:prstGeom>
          <a:noFill/>
          <a:ln/>
        </p:spPr>
        <p:txBody>
          <a:bodyPr wrap="square" rtlCol="0" anchor="ctr"/>
          <a:lstStyle/>
          <a:p>
            <a:pPr algn="ctr" indent="0" marL="0">
              <a:buNone/>
            </a:pPr>
            <a:r>
              <a:rPr lang="en-US" sz="1200" b="1" dirty="0">
                <a:solidFill>
                  <a:srgbClr val="F1F3FB"/>
                </a:solidFill>
                <a:latin typeface="Poppins" pitchFamily="34" charset="0"/>
                <a:ea typeface="Poppins" pitchFamily="34" charset="-122"/>
                <a:cs typeface="Poppins" pitchFamily="34" charset="-120"/>
              </a:rPr>
              <a:t>Cloud-Backed</a:t>
            </a:r>
            <a:endParaRPr lang="en-US" sz="1200" dirty="0"/>
          </a:p>
        </p:txBody>
      </p:sp>
      <p:sp>
        <p:nvSpPr>
          <p:cNvPr id="15" name="Shape 13"/>
          <p:cNvSpPr/>
          <p:nvPr/>
        </p:nvSpPr>
        <p:spPr>
          <a:xfrm>
            <a:off x="6858000" y="1920240"/>
            <a:ext cx="4846320" cy="4206240"/>
          </a:xfrm>
          <a:prstGeom prst="roundRect">
            <a:avLst>
              <a:gd name="adj" fmla="val 4348"/>
            </a:avLst>
          </a:prstGeom>
          <a:solidFill>
            <a:srgbClr val="161C2E"/>
          </a:solidFill>
          <a:ln w="9525">
            <a:solidFill>
              <a:srgbClr val="6D7590"/>
            </a:solidFill>
            <a:prstDash val="solid"/>
          </a:ln>
        </p:spPr>
      </p:sp>
      <p:sp>
        <p:nvSpPr>
          <p:cNvPr id="16" name="Text 14"/>
          <p:cNvSpPr/>
          <p:nvPr/>
        </p:nvSpPr>
        <p:spPr>
          <a:xfrm>
            <a:off x="7223760" y="2148840"/>
            <a:ext cx="4114800" cy="365760"/>
          </a:xfrm>
          <a:prstGeom prst="rect">
            <a:avLst/>
          </a:prstGeom>
          <a:noFill/>
          <a:ln/>
        </p:spPr>
        <p:txBody>
          <a:bodyPr wrap="square" rtlCol="0" anchor="ctr"/>
          <a:lstStyle/>
          <a:p>
            <a:pPr indent="0" marL="0">
              <a:buNone/>
            </a:pPr>
            <a:r>
              <a:rPr lang="en-US" sz="1400" b="1" dirty="0">
                <a:solidFill>
                  <a:srgbClr val="24D3EE"/>
                </a:solidFill>
                <a:latin typeface="Poppins" pitchFamily="34" charset="0"/>
                <a:ea typeface="Poppins" pitchFamily="34" charset="-122"/>
                <a:cs typeface="Poppins" pitchFamily="34" charset="-120"/>
              </a:rPr>
              <a:t>A quick snapshot</a:t>
            </a:r>
            <a:endParaRPr lang="en-US" sz="1400" dirty="0"/>
          </a:p>
        </p:txBody>
      </p:sp>
      <p:sp>
        <p:nvSpPr>
          <p:cNvPr id="17" name="Text 15"/>
          <p:cNvSpPr/>
          <p:nvPr/>
        </p:nvSpPr>
        <p:spPr>
          <a:xfrm>
            <a:off x="7223760" y="2651760"/>
            <a:ext cx="4114800" cy="3291840"/>
          </a:xfrm>
          <a:prstGeom prst="rect">
            <a:avLst/>
          </a:prstGeom>
          <a:noFill/>
          <a:ln/>
        </p:spPr>
        <p:txBody>
          <a:bodyPr wrap="square" rtlCol="0" anchor="ctr"/>
          <a:lstStyle/>
          <a:p>
            <a:pPr marL="342900" indent="-342900">
              <a:spcAft>
                <a:spcPts val="1200"/>
              </a:spcAft>
              <a:buSzPct val="100000"/>
              <a:buChar char="●"/>
            </a:pPr>
            <a:r>
              <a:rPr lang="en-US" sz="1350" dirty="0">
                <a:solidFill>
                  <a:srgbClr val="A9B0C6"/>
                </a:solidFill>
                <a:latin typeface="Poppins" pitchFamily="34" charset="0"/>
                <a:ea typeface="Poppins" pitchFamily="34" charset="-122"/>
                <a:cs typeface="Poppins" pitchFamily="34" charset="-120"/>
              </a:rPr>
              <a:t>Built with HTML5, CSS3, JavaScript</a:t>
            </a:r>
            <a:endParaRPr lang="en-US" sz="1350" dirty="0"/>
          </a:p>
          <a:p>
            <a:pPr marL="342900" indent="-342900">
              <a:spcAft>
                <a:spcPts val="1200"/>
              </a:spcAft>
              <a:buSzPct val="100000"/>
              <a:buChar char="●"/>
            </a:pPr>
            <a:r>
              <a:rPr lang="en-US" sz="1350" dirty="0">
                <a:solidFill>
                  <a:srgbClr val="A9B0C6"/>
                </a:solidFill>
                <a:latin typeface="Poppins" pitchFamily="34" charset="0"/>
                <a:ea typeface="Poppins" pitchFamily="34" charset="-122"/>
                <a:cs typeface="Poppins" pitchFamily="34" charset="-120"/>
              </a:rPr>
              <a:t>Backed conceptually by Amazon S3 storage</a:t>
            </a:r>
            <a:endParaRPr lang="en-US" sz="1350" dirty="0"/>
          </a:p>
          <a:p>
            <a:pPr marL="342900" indent="-342900">
              <a:spcAft>
                <a:spcPts val="1200"/>
              </a:spcAft>
              <a:buSzPct val="100000"/>
              <a:buChar char="●"/>
            </a:pPr>
            <a:r>
              <a:rPr lang="en-US" sz="1350" dirty="0">
                <a:solidFill>
                  <a:srgbClr val="A9B0C6"/>
                </a:solidFill>
                <a:latin typeface="Poppins" pitchFamily="34" charset="0"/>
                <a:ea typeface="Poppins" pitchFamily="34" charset="-122"/>
                <a:cs typeface="Poppins" pitchFamily="34" charset="-120"/>
              </a:rPr>
              <a:t>Secured using AWS IAM policies</a:t>
            </a:r>
            <a:endParaRPr lang="en-US" sz="1350" dirty="0"/>
          </a:p>
          <a:p>
            <a:pPr marL="342900" indent="-342900">
              <a:spcAft>
                <a:spcPts val="1200"/>
              </a:spcAft>
              <a:buSzPct val="100000"/>
              <a:buChar char="●"/>
            </a:pPr>
            <a:r>
              <a:rPr lang="en-US" sz="1350" dirty="0">
                <a:solidFill>
                  <a:srgbClr val="A9B0C6"/>
                </a:solidFill>
                <a:latin typeface="Poppins" pitchFamily="34" charset="0"/>
                <a:ea typeface="Poppins" pitchFamily="34" charset="-122"/>
                <a:cs typeface="Poppins" pitchFamily="34" charset="-120"/>
              </a:rPr>
              <a:t>3 certificate categories, fully searchable</a:t>
            </a:r>
            <a:endParaRPr lang="en-US" sz="1350" dirty="0"/>
          </a:p>
          <a:p>
            <a:pPr marL="342900" indent="-342900">
              <a:spcAft>
                <a:spcPts val="1200"/>
              </a:spcAft>
              <a:buSzPct val="100000"/>
              <a:buChar char="●"/>
            </a:pPr>
            <a:r>
              <a:rPr lang="en-US" sz="1350" dirty="0">
                <a:solidFill>
                  <a:srgbClr val="A9B0C6"/>
                </a:solidFill>
                <a:latin typeface="Poppins" pitchFamily="34" charset="0"/>
                <a:ea typeface="Poppins" pitchFamily="34" charset="-122"/>
                <a:cs typeface="Poppins" pitchFamily="34" charset="-120"/>
              </a:rPr>
              <a:t>Beginner-friendly, resume-worthy project</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457200" y="411480"/>
            <a:ext cx="2377440" cy="384048"/>
          </a:xfrm>
          <a:prstGeom prst="roundRect">
            <a:avLst>
              <a:gd name="adj" fmla="val 50000"/>
            </a:avLst>
          </a:prstGeom>
          <a:solidFill>
            <a:srgbClr val="FF6B81">
              <a:alpha val="15000"/>
            </a:srgbClr>
          </a:solidFill>
          <a:ln w="12700">
            <a:solidFill>
              <a:srgbClr val="FF6B81"/>
            </a:solidFill>
            <a:prstDash val="solid"/>
          </a:ln>
        </p:spPr>
      </p:sp>
      <p:sp>
        <p:nvSpPr>
          <p:cNvPr id="3" name="Text 1"/>
          <p:cNvSpPr/>
          <p:nvPr/>
        </p:nvSpPr>
        <p:spPr>
          <a:xfrm>
            <a:off x="457200" y="411480"/>
            <a:ext cx="2377440" cy="384048"/>
          </a:xfrm>
          <a:prstGeom prst="rect">
            <a:avLst/>
          </a:prstGeom>
          <a:noFill/>
          <a:ln/>
        </p:spPr>
        <p:txBody>
          <a:bodyPr wrap="square" rtlCol="0" anchor="ctr"/>
          <a:lstStyle/>
          <a:p>
            <a:pPr algn="ctr" indent="0" marL="0">
              <a:buNone/>
            </a:pPr>
            <a:r>
              <a:rPr lang="en-US" sz="1100" b="1" spc="100" kern="0" dirty="0">
                <a:solidFill>
                  <a:srgbClr val="FF6B81"/>
                </a:solidFill>
                <a:latin typeface="Poppins" pitchFamily="34" charset="0"/>
                <a:ea typeface="Poppins" pitchFamily="34" charset="-122"/>
                <a:cs typeface="Poppins" pitchFamily="34" charset="-120"/>
              </a:rPr>
              <a:t>PROBLEM STATEMENT</a:t>
            </a:r>
            <a:endParaRPr lang="en-US" sz="1100" dirty="0"/>
          </a:p>
        </p:txBody>
      </p:sp>
      <p:sp>
        <p:nvSpPr>
          <p:cNvPr id="4" name="Text 2"/>
          <p:cNvSpPr/>
          <p:nvPr/>
        </p:nvSpPr>
        <p:spPr>
          <a:xfrm>
            <a:off x="457200" y="914400"/>
            <a:ext cx="11247120" cy="822960"/>
          </a:xfrm>
          <a:prstGeom prst="rect">
            <a:avLst/>
          </a:prstGeom>
          <a:noFill/>
          <a:ln/>
        </p:spPr>
        <p:txBody>
          <a:bodyPr wrap="square" lIns="0" tIns="0" rIns="0" bIns="0" rtlCol="0" anchor="ctr"/>
          <a:lstStyle/>
          <a:p>
            <a:pPr indent="0" marL="0">
              <a:buNone/>
            </a:pPr>
            <a:r>
              <a:rPr lang="en-US" sz="3200" b="1" dirty="0">
                <a:solidFill>
                  <a:srgbClr val="F1F3FB"/>
                </a:solidFill>
                <a:latin typeface="Poppins" pitchFamily="34" charset="0"/>
                <a:ea typeface="Poppins" pitchFamily="34" charset="-122"/>
                <a:cs typeface="Poppins" pitchFamily="34" charset="-120"/>
              </a:rPr>
              <a:t>Certificates get lost. Literally.</a:t>
            </a:r>
            <a:endParaRPr lang="en-US" sz="3200" dirty="0"/>
          </a:p>
        </p:txBody>
      </p:sp>
      <p:sp>
        <p:nvSpPr>
          <p:cNvPr id="5" name="Shape 3"/>
          <p:cNvSpPr/>
          <p:nvPr/>
        </p:nvSpPr>
        <p:spPr>
          <a:xfrm>
            <a:off x="457200" y="2011680"/>
            <a:ext cx="11247120" cy="960120"/>
          </a:xfrm>
          <a:prstGeom prst="roundRect">
            <a:avLst>
              <a:gd name="adj" fmla="val 13333"/>
            </a:avLst>
          </a:prstGeom>
          <a:solidFill>
            <a:srgbClr val="161C2E"/>
          </a:solidFill>
          <a:ln/>
        </p:spPr>
      </p:sp>
      <p:sp>
        <p:nvSpPr>
          <p:cNvPr id="6" name="Shape 4"/>
          <p:cNvSpPr/>
          <p:nvPr/>
        </p:nvSpPr>
        <p:spPr>
          <a:xfrm>
            <a:off x="685800" y="2258568"/>
            <a:ext cx="457200" cy="457200"/>
          </a:xfrm>
          <a:prstGeom prst="roundRect">
            <a:avLst>
              <a:gd name="adj" fmla="val 20000"/>
            </a:avLst>
          </a:prstGeom>
          <a:solidFill>
            <a:srgbClr val="FF6B81">
              <a:alpha val="20000"/>
            </a:srgbClr>
          </a:solidFill>
          <a:ln/>
        </p:spPr>
      </p:sp>
      <p:sp>
        <p:nvSpPr>
          <p:cNvPr id="7" name="Text 5"/>
          <p:cNvSpPr/>
          <p:nvPr/>
        </p:nvSpPr>
        <p:spPr>
          <a:xfrm>
            <a:off x="685800" y="2258568"/>
            <a:ext cx="457200" cy="457200"/>
          </a:xfrm>
          <a:prstGeom prst="rect">
            <a:avLst/>
          </a:prstGeom>
          <a:noFill/>
          <a:ln/>
        </p:spPr>
        <p:txBody>
          <a:bodyPr wrap="square" rtlCol="0" anchor="ctr"/>
          <a:lstStyle/>
          <a:p>
            <a:pPr algn="ctr" indent="0" marL="0">
              <a:buNone/>
            </a:pPr>
            <a:r>
              <a:rPr lang="en-US" sz="1600" b="1" dirty="0">
                <a:solidFill>
                  <a:srgbClr val="FF6B81"/>
                </a:solidFill>
              </a:rPr>
              <a:t>✕</a:t>
            </a:r>
            <a:endParaRPr lang="en-US" sz="1600" dirty="0"/>
          </a:p>
        </p:txBody>
      </p:sp>
      <p:sp>
        <p:nvSpPr>
          <p:cNvPr id="8" name="Text 6"/>
          <p:cNvSpPr/>
          <p:nvPr/>
        </p:nvSpPr>
        <p:spPr>
          <a:xfrm>
            <a:off x="1371600" y="2084832"/>
            <a:ext cx="3108960" cy="822960"/>
          </a:xfrm>
          <a:prstGeom prst="rect">
            <a:avLst/>
          </a:prstGeom>
          <a:noFill/>
          <a:ln/>
        </p:spPr>
        <p:txBody>
          <a:bodyPr wrap="square" rtlCol="0" anchor="ctr"/>
          <a:lstStyle/>
          <a:p>
            <a:pPr indent="0" marL="0">
              <a:buNone/>
            </a:pPr>
            <a:r>
              <a:rPr lang="en-US" sz="1500" b="1" dirty="0">
                <a:solidFill>
                  <a:srgbClr val="F1F3FB"/>
                </a:solidFill>
                <a:latin typeface="Poppins" pitchFamily="34" charset="0"/>
                <a:ea typeface="Poppins" pitchFamily="34" charset="-122"/>
                <a:cs typeface="Poppins" pitchFamily="34" charset="-120"/>
              </a:rPr>
              <a:t>Scattered storage</a:t>
            </a:r>
            <a:endParaRPr lang="en-US" sz="1500" dirty="0"/>
          </a:p>
        </p:txBody>
      </p:sp>
      <p:sp>
        <p:nvSpPr>
          <p:cNvPr id="9" name="Text 7"/>
          <p:cNvSpPr/>
          <p:nvPr/>
        </p:nvSpPr>
        <p:spPr>
          <a:xfrm>
            <a:off x="4572000" y="2084832"/>
            <a:ext cx="6949440" cy="822960"/>
          </a:xfrm>
          <a:prstGeom prst="rect">
            <a:avLst/>
          </a:prstGeom>
          <a:noFill/>
          <a:ln/>
        </p:spPr>
        <p:txBody>
          <a:bodyPr wrap="square" rtlCol="0" anchor="ctr"/>
          <a:lstStyle/>
          <a:p>
            <a:pPr indent="0" marL="0">
              <a:buNone/>
            </a:pPr>
            <a:r>
              <a:rPr lang="en-US" sz="1250" dirty="0">
                <a:solidFill>
                  <a:srgbClr val="A9B0C6"/>
                </a:solidFill>
                <a:latin typeface="Poppins" pitchFamily="34" charset="0"/>
                <a:ea typeface="Poppins" pitchFamily="34" charset="-122"/>
                <a:cs typeface="Poppins" pitchFamily="34" charset="-120"/>
              </a:rPr>
              <a:t>Certificates sit in email attachments, WhatsApp chats, and random phone folders.</a:t>
            </a:r>
            <a:endParaRPr lang="en-US" sz="1250" dirty="0"/>
          </a:p>
        </p:txBody>
      </p:sp>
      <p:sp>
        <p:nvSpPr>
          <p:cNvPr id="10" name="Shape 8"/>
          <p:cNvSpPr/>
          <p:nvPr/>
        </p:nvSpPr>
        <p:spPr>
          <a:xfrm>
            <a:off x="457200" y="3127248"/>
            <a:ext cx="11247120" cy="960120"/>
          </a:xfrm>
          <a:prstGeom prst="roundRect">
            <a:avLst>
              <a:gd name="adj" fmla="val 13333"/>
            </a:avLst>
          </a:prstGeom>
          <a:solidFill>
            <a:srgbClr val="161C2E"/>
          </a:solidFill>
          <a:ln/>
        </p:spPr>
      </p:sp>
      <p:sp>
        <p:nvSpPr>
          <p:cNvPr id="11" name="Shape 9"/>
          <p:cNvSpPr/>
          <p:nvPr/>
        </p:nvSpPr>
        <p:spPr>
          <a:xfrm>
            <a:off x="685800" y="3374136"/>
            <a:ext cx="457200" cy="457200"/>
          </a:xfrm>
          <a:prstGeom prst="roundRect">
            <a:avLst>
              <a:gd name="adj" fmla="val 20000"/>
            </a:avLst>
          </a:prstGeom>
          <a:solidFill>
            <a:srgbClr val="FF6B81">
              <a:alpha val="20000"/>
            </a:srgbClr>
          </a:solidFill>
          <a:ln/>
        </p:spPr>
      </p:sp>
      <p:sp>
        <p:nvSpPr>
          <p:cNvPr id="12" name="Text 10"/>
          <p:cNvSpPr/>
          <p:nvPr/>
        </p:nvSpPr>
        <p:spPr>
          <a:xfrm>
            <a:off x="685800" y="3374136"/>
            <a:ext cx="457200" cy="457200"/>
          </a:xfrm>
          <a:prstGeom prst="rect">
            <a:avLst/>
          </a:prstGeom>
          <a:noFill/>
          <a:ln/>
        </p:spPr>
        <p:txBody>
          <a:bodyPr wrap="square" rtlCol="0" anchor="ctr"/>
          <a:lstStyle/>
          <a:p>
            <a:pPr algn="ctr" indent="0" marL="0">
              <a:buNone/>
            </a:pPr>
            <a:r>
              <a:rPr lang="en-US" sz="1600" b="1" dirty="0">
                <a:solidFill>
                  <a:srgbClr val="FF6B81"/>
                </a:solidFill>
              </a:rPr>
              <a:t>✕</a:t>
            </a:r>
            <a:endParaRPr lang="en-US" sz="1600" dirty="0"/>
          </a:p>
        </p:txBody>
      </p:sp>
      <p:sp>
        <p:nvSpPr>
          <p:cNvPr id="13" name="Text 11"/>
          <p:cNvSpPr/>
          <p:nvPr/>
        </p:nvSpPr>
        <p:spPr>
          <a:xfrm>
            <a:off x="1371600" y="3200400"/>
            <a:ext cx="3108960" cy="822960"/>
          </a:xfrm>
          <a:prstGeom prst="rect">
            <a:avLst/>
          </a:prstGeom>
          <a:noFill/>
          <a:ln/>
        </p:spPr>
        <p:txBody>
          <a:bodyPr wrap="square" rtlCol="0" anchor="ctr"/>
          <a:lstStyle/>
          <a:p>
            <a:pPr indent="0" marL="0">
              <a:buNone/>
            </a:pPr>
            <a:r>
              <a:rPr lang="en-US" sz="1500" b="1" dirty="0">
                <a:solidFill>
                  <a:srgbClr val="F1F3FB"/>
                </a:solidFill>
                <a:latin typeface="Poppins" pitchFamily="34" charset="0"/>
                <a:ea typeface="Poppins" pitchFamily="34" charset="-122"/>
                <a:cs typeface="Poppins" pitchFamily="34" charset="-120"/>
              </a:rPr>
              <a:t>Hard to retrieve</a:t>
            </a:r>
            <a:endParaRPr lang="en-US" sz="1500" dirty="0"/>
          </a:p>
        </p:txBody>
      </p:sp>
      <p:sp>
        <p:nvSpPr>
          <p:cNvPr id="14" name="Text 12"/>
          <p:cNvSpPr/>
          <p:nvPr/>
        </p:nvSpPr>
        <p:spPr>
          <a:xfrm>
            <a:off x="4572000" y="3200400"/>
            <a:ext cx="6949440" cy="822960"/>
          </a:xfrm>
          <a:prstGeom prst="rect">
            <a:avLst/>
          </a:prstGeom>
          <a:noFill/>
          <a:ln/>
        </p:spPr>
        <p:txBody>
          <a:bodyPr wrap="square" rtlCol="0" anchor="ctr"/>
          <a:lstStyle/>
          <a:p>
            <a:pPr indent="0" marL="0">
              <a:buNone/>
            </a:pPr>
            <a:r>
              <a:rPr lang="en-US" sz="1250" dirty="0">
                <a:solidFill>
                  <a:srgbClr val="A9B0C6"/>
                </a:solidFill>
                <a:latin typeface="Poppins" pitchFamily="34" charset="0"/>
                <a:ea typeface="Poppins" pitchFamily="34" charset="-122"/>
                <a:cs typeface="Poppins" pitchFamily="34" charset="-120"/>
              </a:rPr>
              <a:t>Finding one specific certificate for a job or admission deadline wastes time.</a:t>
            </a:r>
            <a:endParaRPr lang="en-US" sz="1250" dirty="0"/>
          </a:p>
        </p:txBody>
      </p:sp>
      <p:sp>
        <p:nvSpPr>
          <p:cNvPr id="15" name="Shape 13"/>
          <p:cNvSpPr/>
          <p:nvPr/>
        </p:nvSpPr>
        <p:spPr>
          <a:xfrm>
            <a:off x="457200" y="4242816"/>
            <a:ext cx="11247120" cy="960120"/>
          </a:xfrm>
          <a:prstGeom prst="roundRect">
            <a:avLst>
              <a:gd name="adj" fmla="val 13333"/>
            </a:avLst>
          </a:prstGeom>
          <a:solidFill>
            <a:srgbClr val="161C2E"/>
          </a:solidFill>
          <a:ln/>
        </p:spPr>
      </p:sp>
      <p:sp>
        <p:nvSpPr>
          <p:cNvPr id="16" name="Shape 14"/>
          <p:cNvSpPr/>
          <p:nvPr/>
        </p:nvSpPr>
        <p:spPr>
          <a:xfrm>
            <a:off x="685800" y="4489704"/>
            <a:ext cx="457200" cy="457200"/>
          </a:xfrm>
          <a:prstGeom prst="roundRect">
            <a:avLst>
              <a:gd name="adj" fmla="val 20000"/>
            </a:avLst>
          </a:prstGeom>
          <a:solidFill>
            <a:srgbClr val="FF6B81">
              <a:alpha val="20000"/>
            </a:srgbClr>
          </a:solidFill>
          <a:ln/>
        </p:spPr>
      </p:sp>
      <p:sp>
        <p:nvSpPr>
          <p:cNvPr id="17" name="Text 15"/>
          <p:cNvSpPr/>
          <p:nvPr/>
        </p:nvSpPr>
        <p:spPr>
          <a:xfrm>
            <a:off x="685800" y="4489704"/>
            <a:ext cx="457200" cy="457200"/>
          </a:xfrm>
          <a:prstGeom prst="rect">
            <a:avLst/>
          </a:prstGeom>
          <a:noFill/>
          <a:ln/>
        </p:spPr>
        <p:txBody>
          <a:bodyPr wrap="square" rtlCol="0" anchor="ctr"/>
          <a:lstStyle/>
          <a:p>
            <a:pPr algn="ctr" indent="0" marL="0">
              <a:buNone/>
            </a:pPr>
            <a:r>
              <a:rPr lang="en-US" sz="1600" b="1" dirty="0">
                <a:solidFill>
                  <a:srgbClr val="FF6B81"/>
                </a:solidFill>
              </a:rPr>
              <a:t>✕</a:t>
            </a:r>
            <a:endParaRPr lang="en-US" sz="1600" dirty="0"/>
          </a:p>
        </p:txBody>
      </p:sp>
      <p:sp>
        <p:nvSpPr>
          <p:cNvPr id="18" name="Text 16"/>
          <p:cNvSpPr/>
          <p:nvPr/>
        </p:nvSpPr>
        <p:spPr>
          <a:xfrm>
            <a:off x="1371600" y="4315968"/>
            <a:ext cx="3108960" cy="822960"/>
          </a:xfrm>
          <a:prstGeom prst="rect">
            <a:avLst/>
          </a:prstGeom>
          <a:noFill/>
          <a:ln/>
        </p:spPr>
        <p:txBody>
          <a:bodyPr wrap="square" rtlCol="0" anchor="ctr"/>
          <a:lstStyle/>
          <a:p>
            <a:pPr indent="0" marL="0">
              <a:buNone/>
            </a:pPr>
            <a:r>
              <a:rPr lang="en-US" sz="1500" b="1" dirty="0">
                <a:solidFill>
                  <a:srgbClr val="F1F3FB"/>
                </a:solidFill>
                <a:latin typeface="Poppins" pitchFamily="34" charset="0"/>
                <a:ea typeface="Poppins" pitchFamily="34" charset="-122"/>
                <a:cs typeface="Poppins" pitchFamily="34" charset="-120"/>
              </a:rPr>
              <a:t>No categorization</a:t>
            </a:r>
            <a:endParaRPr lang="en-US" sz="1500" dirty="0"/>
          </a:p>
        </p:txBody>
      </p:sp>
      <p:sp>
        <p:nvSpPr>
          <p:cNvPr id="19" name="Text 17"/>
          <p:cNvSpPr/>
          <p:nvPr/>
        </p:nvSpPr>
        <p:spPr>
          <a:xfrm>
            <a:off x="4572000" y="4315968"/>
            <a:ext cx="6949440" cy="822960"/>
          </a:xfrm>
          <a:prstGeom prst="rect">
            <a:avLst/>
          </a:prstGeom>
          <a:noFill/>
          <a:ln/>
        </p:spPr>
        <p:txBody>
          <a:bodyPr wrap="square" rtlCol="0" anchor="ctr"/>
          <a:lstStyle/>
          <a:p>
            <a:pPr indent="0" marL="0">
              <a:buNone/>
            </a:pPr>
            <a:r>
              <a:rPr lang="en-US" sz="1250" dirty="0">
                <a:solidFill>
                  <a:srgbClr val="A9B0C6"/>
                </a:solidFill>
                <a:latin typeface="Poppins" pitchFamily="34" charset="0"/>
                <a:ea typeface="Poppins" pitchFamily="34" charset="-122"/>
                <a:cs typeface="Poppins" pitchFamily="34" charset="-120"/>
              </a:rPr>
              <a:t>There's no simple way to separate internship, academic, and achievement certs.</a:t>
            </a:r>
            <a:endParaRPr lang="en-US" sz="1250" dirty="0"/>
          </a:p>
        </p:txBody>
      </p:sp>
      <p:sp>
        <p:nvSpPr>
          <p:cNvPr id="20" name="Shape 18"/>
          <p:cNvSpPr/>
          <p:nvPr/>
        </p:nvSpPr>
        <p:spPr>
          <a:xfrm>
            <a:off x="457200" y="5358384"/>
            <a:ext cx="11247120" cy="960120"/>
          </a:xfrm>
          <a:prstGeom prst="roundRect">
            <a:avLst>
              <a:gd name="adj" fmla="val 13333"/>
            </a:avLst>
          </a:prstGeom>
          <a:solidFill>
            <a:srgbClr val="161C2E"/>
          </a:solidFill>
          <a:ln/>
        </p:spPr>
      </p:sp>
      <p:sp>
        <p:nvSpPr>
          <p:cNvPr id="21" name="Shape 19"/>
          <p:cNvSpPr/>
          <p:nvPr/>
        </p:nvSpPr>
        <p:spPr>
          <a:xfrm>
            <a:off x="685800" y="5605272"/>
            <a:ext cx="457200" cy="457200"/>
          </a:xfrm>
          <a:prstGeom prst="roundRect">
            <a:avLst>
              <a:gd name="adj" fmla="val 20000"/>
            </a:avLst>
          </a:prstGeom>
          <a:solidFill>
            <a:srgbClr val="FF6B81">
              <a:alpha val="20000"/>
            </a:srgbClr>
          </a:solidFill>
          <a:ln/>
        </p:spPr>
      </p:sp>
      <p:sp>
        <p:nvSpPr>
          <p:cNvPr id="22" name="Text 20"/>
          <p:cNvSpPr/>
          <p:nvPr/>
        </p:nvSpPr>
        <p:spPr>
          <a:xfrm>
            <a:off x="685800" y="5605272"/>
            <a:ext cx="457200" cy="457200"/>
          </a:xfrm>
          <a:prstGeom prst="rect">
            <a:avLst/>
          </a:prstGeom>
          <a:noFill/>
          <a:ln/>
        </p:spPr>
        <p:txBody>
          <a:bodyPr wrap="square" rtlCol="0" anchor="ctr"/>
          <a:lstStyle/>
          <a:p>
            <a:pPr algn="ctr" indent="0" marL="0">
              <a:buNone/>
            </a:pPr>
            <a:r>
              <a:rPr lang="en-US" sz="1600" b="1" dirty="0">
                <a:solidFill>
                  <a:srgbClr val="FF6B81"/>
                </a:solidFill>
              </a:rPr>
              <a:t>✕</a:t>
            </a:r>
            <a:endParaRPr lang="en-US" sz="1600" dirty="0"/>
          </a:p>
        </p:txBody>
      </p:sp>
      <p:sp>
        <p:nvSpPr>
          <p:cNvPr id="23" name="Text 21"/>
          <p:cNvSpPr/>
          <p:nvPr/>
        </p:nvSpPr>
        <p:spPr>
          <a:xfrm>
            <a:off x="1371600" y="5431536"/>
            <a:ext cx="3108960" cy="822960"/>
          </a:xfrm>
          <a:prstGeom prst="rect">
            <a:avLst/>
          </a:prstGeom>
          <a:noFill/>
          <a:ln/>
        </p:spPr>
        <p:txBody>
          <a:bodyPr wrap="square" rtlCol="0" anchor="ctr"/>
          <a:lstStyle/>
          <a:p>
            <a:pPr indent="0" marL="0">
              <a:buNone/>
            </a:pPr>
            <a:r>
              <a:rPr lang="en-US" sz="1500" b="1" dirty="0">
                <a:solidFill>
                  <a:srgbClr val="F1F3FB"/>
                </a:solidFill>
                <a:latin typeface="Poppins" pitchFamily="34" charset="0"/>
                <a:ea typeface="Poppins" pitchFamily="34" charset="-122"/>
                <a:cs typeface="Poppins" pitchFamily="34" charset="-120"/>
              </a:rPr>
              <a:t>Risk of loss</a:t>
            </a:r>
            <a:endParaRPr lang="en-US" sz="1500" dirty="0"/>
          </a:p>
        </p:txBody>
      </p:sp>
      <p:sp>
        <p:nvSpPr>
          <p:cNvPr id="24" name="Text 22"/>
          <p:cNvSpPr/>
          <p:nvPr/>
        </p:nvSpPr>
        <p:spPr>
          <a:xfrm>
            <a:off x="4572000" y="5431536"/>
            <a:ext cx="6949440" cy="822960"/>
          </a:xfrm>
          <a:prstGeom prst="rect">
            <a:avLst/>
          </a:prstGeom>
          <a:noFill/>
          <a:ln/>
        </p:spPr>
        <p:txBody>
          <a:bodyPr wrap="square" rtlCol="0" anchor="ctr"/>
          <a:lstStyle/>
          <a:p>
            <a:pPr indent="0" marL="0">
              <a:buNone/>
            </a:pPr>
            <a:r>
              <a:rPr lang="en-US" sz="1250" dirty="0">
                <a:solidFill>
                  <a:srgbClr val="A9B0C6"/>
                </a:solidFill>
                <a:latin typeface="Poppins" pitchFamily="34" charset="0"/>
                <a:ea typeface="Poppins" pitchFamily="34" charset="-122"/>
                <a:cs typeface="Poppins" pitchFamily="34" charset="-120"/>
              </a:rPr>
              <a:t>A lost phone or deleted email can mean a permanently lost certificate.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457200" y="411480"/>
            <a:ext cx="2377440" cy="384048"/>
          </a:xfrm>
          <a:prstGeom prst="roundRect">
            <a:avLst>
              <a:gd name="adj" fmla="val 50000"/>
            </a:avLst>
          </a:prstGeom>
          <a:solidFill>
            <a:srgbClr val="33E6A4">
              <a:alpha val="15000"/>
            </a:srgbClr>
          </a:solidFill>
          <a:ln w="12700">
            <a:solidFill>
              <a:srgbClr val="33E6A4"/>
            </a:solidFill>
            <a:prstDash val="solid"/>
          </a:ln>
        </p:spPr>
      </p:sp>
      <p:sp>
        <p:nvSpPr>
          <p:cNvPr id="3" name="Text 1"/>
          <p:cNvSpPr/>
          <p:nvPr/>
        </p:nvSpPr>
        <p:spPr>
          <a:xfrm>
            <a:off x="457200" y="411480"/>
            <a:ext cx="2377440" cy="384048"/>
          </a:xfrm>
          <a:prstGeom prst="rect">
            <a:avLst/>
          </a:prstGeom>
          <a:noFill/>
          <a:ln/>
        </p:spPr>
        <p:txBody>
          <a:bodyPr wrap="square" rtlCol="0" anchor="ctr"/>
          <a:lstStyle/>
          <a:p>
            <a:pPr algn="ctr" indent="0" marL="0">
              <a:buNone/>
            </a:pPr>
            <a:r>
              <a:rPr lang="en-US" sz="1100" b="1" spc="100" kern="0" dirty="0">
                <a:solidFill>
                  <a:srgbClr val="33E6A4"/>
                </a:solidFill>
                <a:latin typeface="Poppins" pitchFamily="34" charset="0"/>
                <a:ea typeface="Poppins" pitchFamily="34" charset="-122"/>
                <a:cs typeface="Poppins" pitchFamily="34" charset="-120"/>
              </a:rPr>
              <a:t>OBJECTIVES</a:t>
            </a:r>
            <a:endParaRPr lang="en-US" sz="1100" dirty="0"/>
          </a:p>
        </p:txBody>
      </p:sp>
      <p:sp>
        <p:nvSpPr>
          <p:cNvPr id="4" name="Text 2"/>
          <p:cNvSpPr/>
          <p:nvPr/>
        </p:nvSpPr>
        <p:spPr>
          <a:xfrm>
            <a:off x="457200" y="914400"/>
            <a:ext cx="11247120" cy="822960"/>
          </a:xfrm>
          <a:prstGeom prst="rect">
            <a:avLst/>
          </a:prstGeom>
          <a:noFill/>
          <a:ln/>
        </p:spPr>
        <p:txBody>
          <a:bodyPr wrap="square" lIns="0" tIns="0" rIns="0" bIns="0" rtlCol="0" anchor="ctr"/>
          <a:lstStyle/>
          <a:p>
            <a:pPr indent="0" marL="0">
              <a:buNone/>
            </a:pPr>
            <a:r>
              <a:rPr lang="en-US" sz="3200" b="1" dirty="0">
                <a:solidFill>
                  <a:srgbClr val="F1F3FB"/>
                </a:solidFill>
                <a:latin typeface="Poppins" pitchFamily="34" charset="0"/>
                <a:ea typeface="Poppins" pitchFamily="34" charset="-122"/>
                <a:cs typeface="Poppins" pitchFamily="34" charset="-120"/>
              </a:rPr>
              <a:t>What this project set out to do</a:t>
            </a:r>
            <a:endParaRPr lang="en-US" sz="3200" dirty="0"/>
          </a:p>
        </p:txBody>
      </p:sp>
      <p:sp>
        <p:nvSpPr>
          <p:cNvPr id="5" name="Shape 3"/>
          <p:cNvSpPr/>
          <p:nvPr/>
        </p:nvSpPr>
        <p:spPr>
          <a:xfrm>
            <a:off x="457200" y="1965960"/>
            <a:ext cx="3566160" cy="1417320"/>
          </a:xfrm>
          <a:prstGeom prst="roundRect">
            <a:avLst>
              <a:gd name="adj" fmla="val 10323"/>
            </a:avLst>
          </a:prstGeom>
          <a:solidFill>
            <a:srgbClr val="161C2E"/>
          </a:solidFill>
          <a:ln w="6350">
            <a:solidFill>
              <a:srgbClr val="6D7590"/>
            </a:solidFill>
            <a:prstDash val="solid"/>
          </a:ln>
        </p:spPr>
      </p:sp>
      <p:sp>
        <p:nvSpPr>
          <p:cNvPr id="6" name="Text 4"/>
          <p:cNvSpPr/>
          <p:nvPr/>
        </p:nvSpPr>
        <p:spPr>
          <a:xfrm>
            <a:off x="640080" y="2130552"/>
            <a:ext cx="731520" cy="73152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7" name="Text 5"/>
          <p:cNvSpPr/>
          <p:nvPr/>
        </p:nvSpPr>
        <p:spPr>
          <a:xfrm>
            <a:off x="640080" y="2743200"/>
            <a:ext cx="3200400" cy="548640"/>
          </a:xfrm>
          <a:prstGeom prst="rect">
            <a:avLst/>
          </a:prstGeom>
          <a:noFill/>
          <a:ln/>
        </p:spPr>
        <p:txBody>
          <a:bodyPr wrap="square" rtlCol="0" anchor="ctr"/>
          <a:lstStyle/>
          <a:p>
            <a:pPr indent="0" marL="0">
              <a:buNone/>
            </a:pPr>
            <a:r>
              <a:rPr lang="en-US" sz="1150" b="1" dirty="0">
                <a:solidFill>
                  <a:srgbClr val="F1F3FB"/>
                </a:solidFill>
                <a:latin typeface="Poppins" pitchFamily="34" charset="0"/>
                <a:ea typeface="Poppins" pitchFamily="34" charset="-122"/>
                <a:cs typeface="Poppins" pitchFamily="34" charset="-120"/>
              </a:rPr>
              <a:t>Build a working certificate management UI</a:t>
            </a:r>
            <a:endParaRPr lang="en-US" sz="1150" dirty="0"/>
          </a:p>
        </p:txBody>
      </p:sp>
      <p:sp>
        <p:nvSpPr>
          <p:cNvPr id="8" name="Shape 6"/>
          <p:cNvSpPr/>
          <p:nvPr/>
        </p:nvSpPr>
        <p:spPr>
          <a:xfrm>
            <a:off x="4297680" y="1965960"/>
            <a:ext cx="3566160" cy="1417320"/>
          </a:xfrm>
          <a:prstGeom prst="roundRect">
            <a:avLst>
              <a:gd name="adj" fmla="val 10323"/>
            </a:avLst>
          </a:prstGeom>
          <a:solidFill>
            <a:srgbClr val="161C2E"/>
          </a:solidFill>
          <a:ln w="6350">
            <a:solidFill>
              <a:srgbClr val="6D7590"/>
            </a:solidFill>
            <a:prstDash val="solid"/>
          </a:ln>
        </p:spPr>
      </p:sp>
      <p:sp>
        <p:nvSpPr>
          <p:cNvPr id="9" name="Text 7"/>
          <p:cNvSpPr/>
          <p:nvPr/>
        </p:nvSpPr>
        <p:spPr>
          <a:xfrm>
            <a:off x="4480560" y="2130552"/>
            <a:ext cx="731520" cy="73152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10" name="Text 8"/>
          <p:cNvSpPr/>
          <p:nvPr/>
        </p:nvSpPr>
        <p:spPr>
          <a:xfrm>
            <a:off x="4480560" y="2743200"/>
            <a:ext cx="3200400" cy="548640"/>
          </a:xfrm>
          <a:prstGeom prst="rect">
            <a:avLst/>
          </a:prstGeom>
          <a:noFill/>
          <a:ln/>
        </p:spPr>
        <p:txBody>
          <a:bodyPr wrap="square" rtlCol="0" anchor="ctr"/>
          <a:lstStyle/>
          <a:p>
            <a:pPr indent="0" marL="0">
              <a:buNone/>
            </a:pPr>
            <a:r>
              <a:rPr lang="en-US" sz="1150" b="1" dirty="0">
                <a:solidFill>
                  <a:srgbClr val="F1F3FB"/>
                </a:solidFill>
                <a:latin typeface="Poppins" pitchFamily="34" charset="0"/>
                <a:ea typeface="Poppins" pitchFamily="34" charset="-122"/>
                <a:cs typeface="Poppins" pitchFamily="34" charset="-120"/>
              </a:rPr>
              <a:t>Demonstrate real Amazon S3 storage concepts</a:t>
            </a:r>
            <a:endParaRPr lang="en-US" sz="1150" dirty="0"/>
          </a:p>
        </p:txBody>
      </p:sp>
      <p:sp>
        <p:nvSpPr>
          <p:cNvPr id="11" name="Shape 9"/>
          <p:cNvSpPr/>
          <p:nvPr/>
        </p:nvSpPr>
        <p:spPr>
          <a:xfrm>
            <a:off x="8138160" y="1965960"/>
            <a:ext cx="3566160" cy="1417320"/>
          </a:xfrm>
          <a:prstGeom prst="roundRect">
            <a:avLst>
              <a:gd name="adj" fmla="val 10323"/>
            </a:avLst>
          </a:prstGeom>
          <a:solidFill>
            <a:srgbClr val="161C2E"/>
          </a:solidFill>
          <a:ln w="6350">
            <a:solidFill>
              <a:srgbClr val="6D7590"/>
            </a:solidFill>
            <a:prstDash val="solid"/>
          </a:ln>
        </p:spPr>
      </p:sp>
      <p:sp>
        <p:nvSpPr>
          <p:cNvPr id="12" name="Text 10"/>
          <p:cNvSpPr/>
          <p:nvPr/>
        </p:nvSpPr>
        <p:spPr>
          <a:xfrm>
            <a:off x="8321040" y="2130552"/>
            <a:ext cx="731520" cy="73152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13" name="Text 11"/>
          <p:cNvSpPr/>
          <p:nvPr/>
        </p:nvSpPr>
        <p:spPr>
          <a:xfrm>
            <a:off x="8321040" y="2743200"/>
            <a:ext cx="3200400" cy="548640"/>
          </a:xfrm>
          <a:prstGeom prst="rect">
            <a:avLst/>
          </a:prstGeom>
          <a:noFill/>
          <a:ln/>
        </p:spPr>
        <p:txBody>
          <a:bodyPr wrap="square" rtlCol="0" anchor="ctr"/>
          <a:lstStyle/>
          <a:p>
            <a:pPr indent="0" marL="0">
              <a:buNone/>
            </a:pPr>
            <a:r>
              <a:rPr lang="en-US" sz="1150" b="1" dirty="0">
                <a:solidFill>
                  <a:srgbClr val="F1F3FB"/>
                </a:solidFill>
                <a:latin typeface="Poppins" pitchFamily="34" charset="0"/>
                <a:ea typeface="Poppins" pitchFamily="34" charset="-122"/>
                <a:cs typeface="Poppins" pitchFamily="34" charset="-120"/>
              </a:rPr>
              <a:t>Apply AWS IAM least-privilege security</a:t>
            </a:r>
            <a:endParaRPr lang="en-US" sz="1150" dirty="0"/>
          </a:p>
        </p:txBody>
      </p:sp>
      <p:sp>
        <p:nvSpPr>
          <p:cNvPr id="14" name="Shape 12"/>
          <p:cNvSpPr/>
          <p:nvPr/>
        </p:nvSpPr>
        <p:spPr>
          <a:xfrm>
            <a:off x="457200" y="3566160"/>
            <a:ext cx="3566160" cy="1417320"/>
          </a:xfrm>
          <a:prstGeom prst="roundRect">
            <a:avLst>
              <a:gd name="adj" fmla="val 10323"/>
            </a:avLst>
          </a:prstGeom>
          <a:solidFill>
            <a:srgbClr val="161C2E"/>
          </a:solidFill>
          <a:ln w="6350">
            <a:solidFill>
              <a:srgbClr val="6D7590"/>
            </a:solidFill>
            <a:prstDash val="solid"/>
          </a:ln>
        </p:spPr>
      </p:sp>
      <p:sp>
        <p:nvSpPr>
          <p:cNvPr id="15" name="Text 13"/>
          <p:cNvSpPr/>
          <p:nvPr/>
        </p:nvSpPr>
        <p:spPr>
          <a:xfrm>
            <a:off x="640080" y="3730752"/>
            <a:ext cx="731520" cy="73152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16" name="Text 14"/>
          <p:cNvSpPr/>
          <p:nvPr/>
        </p:nvSpPr>
        <p:spPr>
          <a:xfrm>
            <a:off x="640080" y="4343400"/>
            <a:ext cx="3200400" cy="548640"/>
          </a:xfrm>
          <a:prstGeom prst="rect">
            <a:avLst/>
          </a:prstGeom>
          <a:noFill/>
          <a:ln/>
        </p:spPr>
        <p:txBody>
          <a:bodyPr wrap="square" rtlCol="0" anchor="ctr"/>
          <a:lstStyle/>
          <a:p>
            <a:pPr indent="0" marL="0">
              <a:buNone/>
            </a:pPr>
            <a:r>
              <a:rPr lang="en-US" sz="1150" b="1" dirty="0">
                <a:solidFill>
                  <a:srgbClr val="F1F3FB"/>
                </a:solidFill>
                <a:latin typeface="Poppins" pitchFamily="34" charset="0"/>
                <a:ea typeface="Poppins" pitchFamily="34" charset="-122"/>
                <a:cs typeface="Poppins" pitchFamily="34" charset="-120"/>
              </a:rPr>
              <a:t>Design a modern, professional, SaaS-style interface</a:t>
            </a:r>
            <a:endParaRPr lang="en-US" sz="1150" dirty="0"/>
          </a:p>
        </p:txBody>
      </p:sp>
      <p:sp>
        <p:nvSpPr>
          <p:cNvPr id="17" name="Shape 15"/>
          <p:cNvSpPr/>
          <p:nvPr/>
        </p:nvSpPr>
        <p:spPr>
          <a:xfrm>
            <a:off x="4297680" y="3566160"/>
            <a:ext cx="3566160" cy="1417320"/>
          </a:xfrm>
          <a:prstGeom prst="roundRect">
            <a:avLst>
              <a:gd name="adj" fmla="val 10323"/>
            </a:avLst>
          </a:prstGeom>
          <a:solidFill>
            <a:srgbClr val="161C2E"/>
          </a:solidFill>
          <a:ln w="6350">
            <a:solidFill>
              <a:srgbClr val="6D7590"/>
            </a:solidFill>
            <a:prstDash val="solid"/>
          </a:ln>
        </p:spPr>
      </p:sp>
      <p:sp>
        <p:nvSpPr>
          <p:cNvPr id="18" name="Text 16"/>
          <p:cNvSpPr/>
          <p:nvPr/>
        </p:nvSpPr>
        <p:spPr>
          <a:xfrm>
            <a:off x="4480560" y="3730752"/>
            <a:ext cx="731520" cy="73152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19" name="Text 17"/>
          <p:cNvSpPr/>
          <p:nvPr/>
        </p:nvSpPr>
        <p:spPr>
          <a:xfrm>
            <a:off x="4480560" y="4343400"/>
            <a:ext cx="3200400" cy="548640"/>
          </a:xfrm>
          <a:prstGeom prst="rect">
            <a:avLst/>
          </a:prstGeom>
          <a:noFill/>
          <a:ln/>
        </p:spPr>
        <p:txBody>
          <a:bodyPr wrap="square" rtlCol="0" anchor="ctr"/>
          <a:lstStyle/>
          <a:p>
            <a:pPr indent="0" marL="0">
              <a:buNone/>
            </a:pPr>
            <a:r>
              <a:rPr lang="en-US" sz="1150" b="1" dirty="0">
                <a:solidFill>
                  <a:srgbClr val="F1F3FB"/>
                </a:solidFill>
                <a:latin typeface="Poppins" pitchFamily="34" charset="0"/>
                <a:ea typeface="Poppins" pitchFamily="34" charset="-122"/>
                <a:cs typeface="Poppins" pitchFamily="34" charset="-120"/>
              </a:rPr>
              <a:t>Create something explainable to a beginner</a:t>
            </a:r>
            <a:endParaRPr lang="en-US" sz="1150" dirty="0"/>
          </a:p>
        </p:txBody>
      </p:sp>
      <p:sp>
        <p:nvSpPr>
          <p:cNvPr id="20" name="Shape 18"/>
          <p:cNvSpPr/>
          <p:nvPr/>
        </p:nvSpPr>
        <p:spPr>
          <a:xfrm>
            <a:off x="8138160" y="3566160"/>
            <a:ext cx="3566160" cy="1417320"/>
          </a:xfrm>
          <a:prstGeom prst="roundRect">
            <a:avLst>
              <a:gd name="adj" fmla="val 10323"/>
            </a:avLst>
          </a:prstGeom>
          <a:solidFill>
            <a:srgbClr val="161C2E"/>
          </a:solidFill>
          <a:ln w="6350">
            <a:solidFill>
              <a:srgbClr val="6D7590"/>
            </a:solidFill>
            <a:prstDash val="solid"/>
          </a:ln>
        </p:spPr>
      </p:sp>
      <p:sp>
        <p:nvSpPr>
          <p:cNvPr id="21" name="Text 19"/>
          <p:cNvSpPr/>
          <p:nvPr/>
        </p:nvSpPr>
        <p:spPr>
          <a:xfrm>
            <a:off x="8321040" y="3730752"/>
            <a:ext cx="731520" cy="73152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22" name="Text 20"/>
          <p:cNvSpPr/>
          <p:nvPr/>
        </p:nvSpPr>
        <p:spPr>
          <a:xfrm>
            <a:off x="8321040" y="4343400"/>
            <a:ext cx="3200400" cy="548640"/>
          </a:xfrm>
          <a:prstGeom prst="rect">
            <a:avLst/>
          </a:prstGeom>
          <a:noFill/>
          <a:ln/>
        </p:spPr>
        <p:txBody>
          <a:bodyPr wrap="square" rtlCol="0" anchor="ctr"/>
          <a:lstStyle/>
          <a:p>
            <a:pPr indent="0" marL="0">
              <a:buNone/>
            </a:pPr>
            <a:r>
              <a:rPr lang="en-US" sz="1150" b="1" dirty="0">
                <a:solidFill>
                  <a:srgbClr val="F1F3FB"/>
                </a:solidFill>
                <a:latin typeface="Poppins" pitchFamily="34" charset="0"/>
                <a:ea typeface="Poppins" pitchFamily="34" charset="-122"/>
                <a:cs typeface="Poppins" pitchFamily="34" charset="-120"/>
              </a:rPr>
              <a:t>Produce a resume-worthy, portfolio-ready project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457200" y="411480"/>
            <a:ext cx="2377440" cy="384048"/>
          </a:xfrm>
          <a:prstGeom prst="roundRect">
            <a:avLst>
              <a:gd name="adj" fmla="val 50000"/>
            </a:avLst>
          </a:prstGeom>
          <a:solidFill>
            <a:srgbClr val="FFB454">
              <a:alpha val="15000"/>
            </a:srgbClr>
          </a:solidFill>
          <a:ln w="12700">
            <a:solidFill>
              <a:srgbClr val="FFB454"/>
            </a:solidFill>
            <a:prstDash val="solid"/>
          </a:ln>
        </p:spPr>
      </p:sp>
      <p:sp>
        <p:nvSpPr>
          <p:cNvPr id="3" name="Text 1"/>
          <p:cNvSpPr/>
          <p:nvPr/>
        </p:nvSpPr>
        <p:spPr>
          <a:xfrm>
            <a:off x="457200" y="411480"/>
            <a:ext cx="2377440" cy="384048"/>
          </a:xfrm>
          <a:prstGeom prst="rect">
            <a:avLst/>
          </a:prstGeom>
          <a:noFill/>
          <a:ln/>
        </p:spPr>
        <p:txBody>
          <a:bodyPr wrap="square" rtlCol="0" anchor="ctr"/>
          <a:lstStyle/>
          <a:p>
            <a:pPr algn="ctr" indent="0" marL="0">
              <a:buNone/>
            </a:pPr>
            <a:r>
              <a:rPr lang="en-US" sz="1100" b="1" spc="100" kern="0" dirty="0">
                <a:solidFill>
                  <a:srgbClr val="FFB454"/>
                </a:solidFill>
                <a:latin typeface="Poppins" pitchFamily="34" charset="0"/>
                <a:ea typeface="Poppins" pitchFamily="34" charset="-122"/>
                <a:cs typeface="Poppins" pitchFamily="34" charset="-120"/>
              </a:rPr>
              <a:t>EXISTING SYSTEM</a:t>
            </a:r>
            <a:endParaRPr lang="en-US" sz="1100" dirty="0"/>
          </a:p>
        </p:txBody>
      </p:sp>
      <p:sp>
        <p:nvSpPr>
          <p:cNvPr id="4" name="Text 2"/>
          <p:cNvSpPr/>
          <p:nvPr/>
        </p:nvSpPr>
        <p:spPr>
          <a:xfrm>
            <a:off x="457200" y="914400"/>
            <a:ext cx="11247120" cy="822960"/>
          </a:xfrm>
          <a:prstGeom prst="rect">
            <a:avLst/>
          </a:prstGeom>
          <a:noFill/>
          <a:ln/>
        </p:spPr>
        <p:txBody>
          <a:bodyPr wrap="square" lIns="0" tIns="0" rIns="0" bIns="0" rtlCol="0" anchor="ctr"/>
          <a:lstStyle/>
          <a:p>
            <a:pPr indent="0" marL="0">
              <a:buNone/>
            </a:pPr>
            <a:r>
              <a:rPr lang="en-US" sz="3200" b="1" dirty="0">
                <a:solidFill>
                  <a:srgbClr val="F1F3FB"/>
                </a:solidFill>
                <a:latin typeface="Poppins" pitchFamily="34" charset="0"/>
                <a:ea typeface="Poppins" pitchFamily="34" charset="-122"/>
                <a:cs typeface="Poppins" pitchFamily="34" charset="-120"/>
              </a:rPr>
              <a:t>How certificates are managed today</a:t>
            </a:r>
            <a:endParaRPr lang="en-US" sz="3200" dirty="0"/>
          </a:p>
        </p:txBody>
      </p:sp>
      <p:sp>
        <p:nvSpPr>
          <p:cNvPr id="5" name="Shape 3"/>
          <p:cNvSpPr/>
          <p:nvPr/>
        </p:nvSpPr>
        <p:spPr>
          <a:xfrm>
            <a:off x="457200" y="1965960"/>
            <a:ext cx="5394960" cy="4023360"/>
          </a:xfrm>
          <a:prstGeom prst="roundRect">
            <a:avLst>
              <a:gd name="adj" fmla="val 4091"/>
            </a:avLst>
          </a:prstGeom>
          <a:solidFill>
            <a:srgbClr val="161C2E"/>
          </a:solidFill>
          <a:ln/>
        </p:spPr>
      </p:sp>
      <p:sp>
        <p:nvSpPr>
          <p:cNvPr id="6" name="Text 4"/>
          <p:cNvSpPr/>
          <p:nvPr/>
        </p:nvSpPr>
        <p:spPr>
          <a:xfrm>
            <a:off x="777240" y="2194560"/>
            <a:ext cx="4754880" cy="365760"/>
          </a:xfrm>
          <a:prstGeom prst="rect">
            <a:avLst/>
          </a:prstGeom>
          <a:noFill/>
          <a:ln/>
        </p:spPr>
        <p:txBody>
          <a:bodyPr wrap="square" rtlCol="0" anchor="ctr"/>
          <a:lstStyle/>
          <a:p>
            <a:pPr indent="0" marL="0">
              <a:buNone/>
            </a:pPr>
            <a:r>
              <a:rPr lang="en-US" sz="1500" b="1" dirty="0">
                <a:solidFill>
                  <a:srgbClr val="F1F3FB"/>
                </a:solidFill>
                <a:latin typeface="Poppins" pitchFamily="34" charset="0"/>
                <a:ea typeface="Poppins" pitchFamily="34" charset="-122"/>
                <a:cs typeface="Poppins" pitchFamily="34" charset="-120"/>
              </a:rPr>
              <a:t>Common approaches</a:t>
            </a:r>
            <a:endParaRPr lang="en-US" sz="1500" dirty="0"/>
          </a:p>
        </p:txBody>
      </p:sp>
      <p:sp>
        <p:nvSpPr>
          <p:cNvPr id="7" name="Text 5"/>
          <p:cNvSpPr/>
          <p:nvPr/>
        </p:nvSpPr>
        <p:spPr>
          <a:xfrm>
            <a:off x="777240" y="2697480"/>
            <a:ext cx="4754880" cy="3108960"/>
          </a:xfrm>
          <a:prstGeom prst="rect">
            <a:avLst/>
          </a:prstGeom>
          <a:noFill/>
          <a:ln/>
        </p:spPr>
        <p:txBody>
          <a:bodyPr wrap="square" rtlCol="0" anchor="ctr"/>
          <a:lstStyle/>
          <a:p>
            <a:pPr marL="342900" indent="-342900">
              <a:spcAft>
                <a:spcPts val="1400"/>
              </a:spcAft>
              <a:buSzPct val="100000"/>
              <a:buChar char="●"/>
            </a:pPr>
            <a:r>
              <a:rPr lang="en-US" sz="1350" dirty="0">
                <a:solidFill>
                  <a:srgbClr val="A9B0C6"/>
                </a:solidFill>
                <a:latin typeface="Poppins" pitchFamily="34" charset="0"/>
                <a:ea typeface="Poppins" pitchFamily="34" charset="-122"/>
                <a:cs typeface="Poppins" pitchFamily="34" charset="-120"/>
              </a:rPr>
              <a:t>Email attachments to yourself</a:t>
            </a:r>
            <a:endParaRPr lang="en-US" sz="1350" dirty="0"/>
          </a:p>
          <a:p>
            <a:pPr marL="342900" indent="-342900">
              <a:spcAft>
                <a:spcPts val="1400"/>
              </a:spcAft>
              <a:buSzPct val="100000"/>
              <a:buChar char="●"/>
            </a:pPr>
            <a:r>
              <a:rPr lang="en-US" sz="1350" dirty="0">
                <a:solidFill>
                  <a:srgbClr val="A9B0C6"/>
                </a:solidFill>
                <a:latin typeface="Poppins" pitchFamily="34" charset="0"/>
                <a:ea typeface="Poppins" pitchFamily="34" charset="-122"/>
                <a:cs typeface="Poppins" pitchFamily="34" charset="-120"/>
              </a:rPr>
              <a:t>Random folders on a laptop or phone</a:t>
            </a:r>
            <a:endParaRPr lang="en-US" sz="1350" dirty="0"/>
          </a:p>
          <a:p>
            <a:pPr marL="342900" indent="-342900">
              <a:spcAft>
                <a:spcPts val="1400"/>
              </a:spcAft>
              <a:buSzPct val="100000"/>
              <a:buChar char="●"/>
            </a:pPr>
            <a:r>
              <a:rPr lang="en-US" sz="1350" dirty="0">
                <a:solidFill>
                  <a:srgbClr val="A9B0C6"/>
                </a:solidFill>
                <a:latin typeface="Poppins" pitchFamily="34" charset="0"/>
                <a:ea typeface="Poppins" pitchFamily="34" charset="-122"/>
                <a:cs typeface="Poppins" pitchFamily="34" charset="-120"/>
              </a:rPr>
              <a:t>Physical printouts in a file</a:t>
            </a:r>
            <a:endParaRPr lang="en-US" sz="1350" dirty="0"/>
          </a:p>
          <a:p>
            <a:pPr marL="342900" indent="-342900">
              <a:spcAft>
                <a:spcPts val="1400"/>
              </a:spcAft>
              <a:buSzPct val="100000"/>
              <a:buChar char="●"/>
            </a:pPr>
            <a:r>
              <a:rPr lang="en-US" sz="1350" dirty="0">
                <a:solidFill>
                  <a:srgbClr val="A9B0C6"/>
                </a:solidFill>
                <a:latin typeface="Poppins" pitchFamily="34" charset="0"/>
                <a:ea typeface="Poppins" pitchFamily="34" charset="-122"/>
                <a:cs typeface="Poppins" pitchFamily="34" charset="-120"/>
              </a:rPr>
              <a:t>Cloud drives with no certificate-specific structure</a:t>
            </a:r>
            <a:endParaRPr lang="en-US" sz="1350" dirty="0"/>
          </a:p>
        </p:txBody>
      </p:sp>
      <p:sp>
        <p:nvSpPr>
          <p:cNvPr id="8" name="Shape 6"/>
          <p:cNvSpPr/>
          <p:nvPr/>
        </p:nvSpPr>
        <p:spPr>
          <a:xfrm>
            <a:off x="6309360" y="1965960"/>
            <a:ext cx="5394960" cy="4023360"/>
          </a:xfrm>
          <a:prstGeom prst="roundRect">
            <a:avLst>
              <a:gd name="adj" fmla="val 4091"/>
            </a:avLst>
          </a:prstGeom>
          <a:solidFill>
            <a:srgbClr val="161C2E"/>
          </a:solidFill>
          <a:ln w="12700">
            <a:solidFill>
              <a:srgbClr val="FF6B81"/>
            </a:solidFill>
            <a:prstDash val="solid"/>
          </a:ln>
        </p:spPr>
      </p:sp>
      <p:sp>
        <p:nvSpPr>
          <p:cNvPr id="9" name="Text 7"/>
          <p:cNvSpPr/>
          <p:nvPr/>
        </p:nvSpPr>
        <p:spPr>
          <a:xfrm>
            <a:off x="6629400" y="2194560"/>
            <a:ext cx="4754880" cy="365760"/>
          </a:xfrm>
          <a:prstGeom prst="rect">
            <a:avLst/>
          </a:prstGeom>
          <a:noFill/>
          <a:ln/>
        </p:spPr>
        <p:txBody>
          <a:bodyPr wrap="square" rtlCol="0" anchor="ctr"/>
          <a:lstStyle/>
          <a:p>
            <a:pPr indent="0" marL="0">
              <a:buNone/>
            </a:pPr>
            <a:r>
              <a:rPr lang="en-US" sz="1500" b="1" dirty="0">
                <a:solidFill>
                  <a:srgbClr val="FF6B81"/>
                </a:solidFill>
                <a:latin typeface="Poppins" pitchFamily="34" charset="0"/>
                <a:ea typeface="Poppins" pitchFamily="34" charset="-122"/>
                <a:cs typeface="Poppins" pitchFamily="34" charset="-120"/>
              </a:rPr>
              <a:t>Limitations</a:t>
            </a:r>
            <a:endParaRPr lang="en-US" sz="1500" dirty="0"/>
          </a:p>
        </p:txBody>
      </p:sp>
      <p:sp>
        <p:nvSpPr>
          <p:cNvPr id="10" name="Text 8"/>
          <p:cNvSpPr/>
          <p:nvPr/>
        </p:nvSpPr>
        <p:spPr>
          <a:xfrm>
            <a:off x="6629400" y="2697480"/>
            <a:ext cx="4754880" cy="3108960"/>
          </a:xfrm>
          <a:prstGeom prst="rect">
            <a:avLst/>
          </a:prstGeom>
          <a:noFill/>
          <a:ln/>
        </p:spPr>
        <p:txBody>
          <a:bodyPr wrap="square" rtlCol="0" anchor="ctr"/>
          <a:lstStyle/>
          <a:p>
            <a:pPr marL="342900" indent="-342900">
              <a:spcAft>
                <a:spcPts val="1400"/>
              </a:spcAft>
              <a:buSzPct val="100000"/>
              <a:buChar char="✗"/>
            </a:pPr>
            <a:r>
              <a:rPr lang="en-US" sz="1350" dirty="0">
                <a:solidFill>
                  <a:srgbClr val="A9B0C6"/>
                </a:solidFill>
                <a:latin typeface="Poppins" pitchFamily="34" charset="0"/>
                <a:ea typeface="Poppins" pitchFamily="34" charset="-122"/>
                <a:cs typeface="Poppins" pitchFamily="34" charset="-120"/>
              </a:rPr>
              <a:t>No dedicated search or filtering</a:t>
            </a:r>
            <a:endParaRPr lang="en-US" sz="1350" dirty="0"/>
          </a:p>
          <a:p>
            <a:pPr marL="342900" indent="-342900">
              <a:spcAft>
                <a:spcPts val="1400"/>
              </a:spcAft>
              <a:buSzPct val="100000"/>
              <a:buChar char="✗"/>
            </a:pPr>
            <a:r>
              <a:rPr lang="en-US" sz="1350" dirty="0">
                <a:solidFill>
                  <a:srgbClr val="A9B0C6"/>
                </a:solidFill>
                <a:latin typeface="Poppins" pitchFamily="34" charset="0"/>
                <a:ea typeface="Poppins" pitchFamily="34" charset="-122"/>
                <a:cs typeface="Poppins" pitchFamily="34" charset="-120"/>
              </a:rPr>
              <a:t>No categorization by certificate type</a:t>
            </a:r>
            <a:endParaRPr lang="en-US" sz="1350" dirty="0"/>
          </a:p>
          <a:p>
            <a:pPr marL="342900" indent="-342900">
              <a:spcAft>
                <a:spcPts val="1400"/>
              </a:spcAft>
              <a:buSzPct val="100000"/>
              <a:buChar char="✗"/>
            </a:pPr>
            <a:r>
              <a:rPr lang="en-US" sz="1350" dirty="0">
                <a:solidFill>
                  <a:srgbClr val="A9B0C6"/>
                </a:solidFill>
                <a:latin typeface="Poppins" pitchFamily="34" charset="0"/>
                <a:ea typeface="Poppins" pitchFamily="34" charset="-122"/>
                <a:cs typeface="Poppins" pitchFamily="34" charset="-120"/>
              </a:rPr>
              <a:t>No real access control or security model</a:t>
            </a:r>
            <a:endParaRPr lang="en-US" sz="1350" dirty="0"/>
          </a:p>
          <a:p>
            <a:pPr marL="342900" indent="-342900">
              <a:spcAft>
                <a:spcPts val="1400"/>
              </a:spcAft>
              <a:buSzPct val="100000"/>
              <a:buChar char="✗"/>
            </a:pPr>
            <a:r>
              <a:rPr lang="en-US" sz="1350" dirty="0">
                <a:solidFill>
                  <a:srgbClr val="A9B0C6"/>
                </a:solidFill>
                <a:latin typeface="Poppins" pitchFamily="34" charset="0"/>
                <a:ea typeface="Poppins" pitchFamily="34" charset="-122"/>
                <a:cs typeface="Poppins" pitchFamily="34" charset="-120"/>
              </a:rPr>
              <a:t>Easy to lose track of what's uploaded where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457200" y="411480"/>
            <a:ext cx="2377440" cy="384048"/>
          </a:xfrm>
          <a:prstGeom prst="roundRect">
            <a:avLst>
              <a:gd name="adj" fmla="val 50000"/>
            </a:avLst>
          </a:prstGeom>
          <a:solidFill>
            <a:srgbClr val="6D5EFC">
              <a:alpha val="15000"/>
            </a:srgbClr>
          </a:solidFill>
          <a:ln w="12700">
            <a:solidFill>
              <a:srgbClr val="6D5EFC"/>
            </a:solidFill>
            <a:prstDash val="solid"/>
          </a:ln>
        </p:spPr>
      </p:sp>
      <p:sp>
        <p:nvSpPr>
          <p:cNvPr id="3" name="Text 1"/>
          <p:cNvSpPr/>
          <p:nvPr/>
        </p:nvSpPr>
        <p:spPr>
          <a:xfrm>
            <a:off x="457200" y="411480"/>
            <a:ext cx="2377440" cy="384048"/>
          </a:xfrm>
          <a:prstGeom prst="rect">
            <a:avLst/>
          </a:prstGeom>
          <a:noFill/>
          <a:ln/>
        </p:spPr>
        <p:txBody>
          <a:bodyPr wrap="square" rtlCol="0" anchor="ctr"/>
          <a:lstStyle/>
          <a:p>
            <a:pPr algn="ctr" indent="0" marL="0">
              <a:buNone/>
            </a:pPr>
            <a:r>
              <a:rPr lang="en-US" sz="1100" b="1" spc="100" kern="0" dirty="0">
                <a:solidFill>
                  <a:srgbClr val="6D5EFC"/>
                </a:solidFill>
                <a:latin typeface="Poppins" pitchFamily="34" charset="0"/>
                <a:ea typeface="Poppins" pitchFamily="34" charset="-122"/>
                <a:cs typeface="Poppins" pitchFamily="34" charset="-120"/>
              </a:rPr>
              <a:t>PROPOSED SOLUTION</a:t>
            </a:r>
            <a:endParaRPr lang="en-US" sz="1100" dirty="0"/>
          </a:p>
        </p:txBody>
      </p:sp>
      <p:sp>
        <p:nvSpPr>
          <p:cNvPr id="4" name="Text 2"/>
          <p:cNvSpPr/>
          <p:nvPr/>
        </p:nvSpPr>
        <p:spPr>
          <a:xfrm>
            <a:off x="457200" y="914400"/>
            <a:ext cx="11247120" cy="822960"/>
          </a:xfrm>
          <a:prstGeom prst="rect">
            <a:avLst/>
          </a:prstGeom>
          <a:noFill/>
          <a:ln/>
        </p:spPr>
        <p:txBody>
          <a:bodyPr wrap="square" lIns="0" tIns="0" rIns="0" bIns="0" rtlCol="0" anchor="ctr"/>
          <a:lstStyle/>
          <a:p>
            <a:pPr indent="0" marL="0">
              <a:buNone/>
            </a:pPr>
            <a:r>
              <a:rPr lang="en-US" sz="3200" b="1" dirty="0">
                <a:solidFill>
                  <a:srgbClr val="F1F3FB"/>
                </a:solidFill>
                <a:latin typeface="Poppins" pitchFamily="34" charset="0"/>
                <a:ea typeface="Poppins" pitchFamily="34" charset="-122"/>
                <a:cs typeface="Poppins" pitchFamily="34" charset="-120"/>
              </a:rPr>
              <a:t>CertiVault: one secure home for every certificate</a:t>
            </a:r>
            <a:endParaRPr lang="en-US" sz="3200" dirty="0"/>
          </a:p>
        </p:txBody>
      </p:sp>
      <p:sp>
        <p:nvSpPr>
          <p:cNvPr id="5" name="Shape 3"/>
          <p:cNvSpPr/>
          <p:nvPr/>
        </p:nvSpPr>
        <p:spPr>
          <a:xfrm>
            <a:off x="457200" y="2011680"/>
            <a:ext cx="3566160" cy="3931920"/>
          </a:xfrm>
          <a:prstGeom prst="roundRect">
            <a:avLst>
              <a:gd name="adj" fmla="val 4615"/>
            </a:avLst>
          </a:prstGeom>
          <a:solidFill>
            <a:srgbClr val="161C2E"/>
          </a:solidFill>
          <a:ln/>
        </p:spPr>
      </p:sp>
      <p:sp>
        <p:nvSpPr>
          <p:cNvPr id="6" name="Shape 4"/>
          <p:cNvSpPr/>
          <p:nvPr/>
        </p:nvSpPr>
        <p:spPr>
          <a:xfrm>
            <a:off x="731520" y="2331720"/>
            <a:ext cx="640080" cy="640080"/>
          </a:xfrm>
          <a:prstGeom prst="roundRect">
            <a:avLst>
              <a:gd name="adj" fmla="val 22857"/>
            </a:avLst>
          </a:prstGeom>
          <a:solidFill>
            <a:srgbClr val="6D5EFC"/>
          </a:solidFill>
          <a:ln/>
        </p:spPr>
      </p:sp>
      <p:sp>
        <p:nvSpPr>
          <p:cNvPr id="7" name="Text 5"/>
          <p:cNvSpPr/>
          <p:nvPr/>
        </p:nvSpPr>
        <p:spPr>
          <a:xfrm>
            <a:off x="731520" y="3200400"/>
            <a:ext cx="3017520" cy="457200"/>
          </a:xfrm>
          <a:prstGeom prst="rect">
            <a:avLst/>
          </a:prstGeom>
          <a:noFill/>
          <a:ln/>
        </p:spPr>
        <p:txBody>
          <a:bodyPr wrap="square" rtlCol="0" anchor="ctr"/>
          <a:lstStyle/>
          <a:p>
            <a:pPr indent="0" marL="0">
              <a:buNone/>
            </a:pPr>
            <a:r>
              <a:rPr lang="en-US" sz="1600" b="1" dirty="0">
                <a:solidFill>
                  <a:srgbClr val="F1F3FB"/>
                </a:solidFill>
                <a:latin typeface="Poppins" pitchFamily="34" charset="0"/>
                <a:ea typeface="Poppins" pitchFamily="34" charset="-122"/>
                <a:cs typeface="Poppins" pitchFamily="34" charset="-120"/>
              </a:rPr>
              <a:t>Organized</a:t>
            </a:r>
            <a:endParaRPr lang="en-US" sz="1600" dirty="0"/>
          </a:p>
        </p:txBody>
      </p:sp>
      <p:sp>
        <p:nvSpPr>
          <p:cNvPr id="8" name="Text 6"/>
          <p:cNvSpPr/>
          <p:nvPr/>
        </p:nvSpPr>
        <p:spPr>
          <a:xfrm>
            <a:off x="731520" y="3703320"/>
            <a:ext cx="3017520" cy="2011680"/>
          </a:xfrm>
          <a:prstGeom prst="rect">
            <a:avLst/>
          </a:prstGeom>
          <a:noFill/>
          <a:ln/>
        </p:spPr>
        <p:txBody>
          <a:bodyPr wrap="square" rtlCol="0" anchor="ctr"/>
          <a:lstStyle/>
          <a:p>
            <a:pPr indent="0" marL="0">
              <a:lnSpc>
                <a:spcPct val="135000"/>
              </a:lnSpc>
              <a:buNone/>
            </a:pPr>
            <a:r>
              <a:rPr lang="en-US" sz="1250" dirty="0">
                <a:solidFill>
                  <a:srgbClr val="A9B0C6"/>
                </a:solidFill>
                <a:latin typeface="Poppins" pitchFamily="34" charset="0"/>
                <a:ea typeface="Poppins" pitchFamily="34" charset="-122"/>
                <a:cs typeface="Poppins" pitchFamily="34" charset="-120"/>
              </a:rPr>
              <a:t>Certificates grouped into Internship, Academic, and Achievement categories automatically.</a:t>
            </a:r>
            <a:endParaRPr lang="en-US" sz="1250" dirty="0"/>
          </a:p>
        </p:txBody>
      </p:sp>
      <p:sp>
        <p:nvSpPr>
          <p:cNvPr id="9" name="Shape 7"/>
          <p:cNvSpPr/>
          <p:nvPr/>
        </p:nvSpPr>
        <p:spPr>
          <a:xfrm>
            <a:off x="4251960" y="2011680"/>
            <a:ext cx="3566160" cy="3931920"/>
          </a:xfrm>
          <a:prstGeom prst="roundRect">
            <a:avLst>
              <a:gd name="adj" fmla="val 4615"/>
            </a:avLst>
          </a:prstGeom>
          <a:solidFill>
            <a:srgbClr val="161C2E"/>
          </a:solidFill>
          <a:ln/>
        </p:spPr>
      </p:sp>
      <p:sp>
        <p:nvSpPr>
          <p:cNvPr id="10" name="Shape 8"/>
          <p:cNvSpPr/>
          <p:nvPr/>
        </p:nvSpPr>
        <p:spPr>
          <a:xfrm>
            <a:off x="4526280" y="2331720"/>
            <a:ext cx="640080" cy="640080"/>
          </a:xfrm>
          <a:prstGeom prst="roundRect">
            <a:avLst>
              <a:gd name="adj" fmla="val 22857"/>
            </a:avLst>
          </a:prstGeom>
          <a:solidFill>
            <a:srgbClr val="33E6A4"/>
          </a:solidFill>
          <a:ln/>
        </p:spPr>
      </p:sp>
      <p:sp>
        <p:nvSpPr>
          <p:cNvPr id="11" name="Text 9"/>
          <p:cNvSpPr/>
          <p:nvPr/>
        </p:nvSpPr>
        <p:spPr>
          <a:xfrm>
            <a:off x="4526280" y="3200400"/>
            <a:ext cx="3017520" cy="457200"/>
          </a:xfrm>
          <a:prstGeom prst="rect">
            <a:avLst/>
          </a:prstGeom>
          <a:noFill/>
          <a:ln/>
        </p:spPr>
        <p:txBody>
          <a:bodyPr wrap="square" rtlCol="0" anchor="ctr"/>
          <a:lstStyle/>
          <a:p>
            <a:pPr indent="0" marL="0">
              <a:buNone/>
            </a:pPr>
            <a:r>
              <a:rPr lang="en-US" sz="1600" b="1" dirty="0">
                <a:solidFill>
                  <a:srgbClr val="F1F3FB"/>
                </a:solidFill>
                <a:latin typeface="Poppins" pitchFamily="34" charset="0"/>
                <a:ea typeface="Poppins" pitchFamily="34" charset="-122"/>
                <a:cs typeface="Poppins" pitchFamily="34" charset="-120"/>
              </a:rPr>
              <a:t>Searchable</a:t>
            </a:r>
            <a:endParaRPr lang="en-US" sz="1600" dirty="0"/>
          </a:p>
        </p:txBody>
      </p:sp>
      <p:sp>
        <p:nvSpPr>
          <p:cNvPr id="12" name="Text 10"/>
          <p:cNvSpPr/>
          <p:nvPr/>
        </p:nvSpPr>
        <p:spPr>
          <a:xfrm>
            <a:off x="4526280" y="3703320"/>
            <a:ext cx="3017520" cy="2011680"/>
          </a:xfrm>
          <a:prstGeom prst="rect">
            <a:avLst/>
          </a:prstGeom>
          <a:noFill/>
          <a:ln/>
        </p:spPr>
        <p:txBody>
          <a:bodyPr wrap="square" rtlCol="0" anchor="ctr"/>
          <a:lstStyle/>
          <a:p>
            <a:pPr indent="0" marL="0">
              <a:lnSpc>
                <a:spcPct val="135000"/>
              </a:lnSpc>
              <a:buNone/>
            </a:pPr>
            <a:r>
              <a:rPr lang="en-US" sz="1250" dirty="0">
                <a:solidFill>
                  <a:srgbClr val="A9B0C6"/>
                </a:solidFill>
                <a:latin typeface="Poppins" pitchFamily="34" charset="0"/>
                <a:ea typeface="Poppins" pitchFamily="34" charset="-122"/>
                <a:cs typeface="Poppins" pitchFamily="34" charset="-120"/>
              </a:rPr>
              <a:t>Instant search and category filters across the whole gallery.</a:t>
            </a:r>
            <a:endParaRPr lang="en-US" sz="1250" dirty="0"/>
          </a:p>
        </p:txBody>
      </p:sp>
      <p:sp>
        <p:nvSpPr>
          <p:cNvPr id="13" name="Shape 11"/>
          <p:cNvSpPr/>
          <p:nvPr/>
        </p:nvSpPr>
        <p:spPr>
          <a:xfrm>
            <a:off x="8046720" y="2011680"/>
            <a:ext cx="3566160" cy="3931920"/>
          </a:xfrm>
          <a:prstGeom prst="roundRect">
            <a:avLst>
              <a:gd name="adj" fmla="val 4615"/>
            </a:avLst>
          </a:prstGeom>
          <a:solidFill>
            <a:srgbClr val="161C2E"/>
          </a:solidFill>
          <a:ln/>
        </p:spPr>
      </p:sp>
      <p:sp>
        <p:nvSpPr>
          <p:cNvPr id="14" name="Shape 12"/>
          <p:cNvSpPr/>
          <p:nvPr/>
        </p:nvSpPr>
        <p:spPr>
          <a:xfrm>
            <a:off x="8321040" y="2331720"/>
            <a:ext cx="640080" cy="640080"/>
          </a:xfrm>
          <a:prstGeom prst="roundRect">
            <a:avLst>
              <a:gd name="adj" fmla="val 22857"/>
            </a:avLst>
          </a:prstGeom>
          <a:solidFill>
            <a:srgbClr val="FFB454"/>
          </a:solidFill>
          <a:ln/>
        </p:spPr>
      </p:sp>
      <p:sp>
        <p:nvSpPr>
          <p:cNvPr id="15" name="Text 13"/>
          <p:cNvSpPr/>
          <p:nvPr/>
        </p:nvSpPr>
        <p:spPr>
          <a:xfrm>
            <a:off x="8321040" y="3200400"/>
            <a:ext cx="3017520" cy="457200"/>
          </a:xfrm>
          <a:prstGeom prst="rect">
            <a:avLst/>
          </a:prstGeom>
          <a:noFill/>
          <a:ln/>
        </p:spPr>
        <p:txBody>
          <a:bodyPr wrap="square" rtlCol="0" anchor="ctr"/>
          <a:lstStyle/>
          <a:p>
            <a:pPr indent="0" marL="0">
              <a:buNone/>
            </a:pPr>
            <a:r>
              <a:rPr lang="en-US" sz="1600" b="1" dirty="0">
                <a:solidFill>
                  <a:srgbClr val="F1F3FB"/>
                </a:solidFill>
                <a:latin typeface="Poppins" pitchFamily="34" charset="0"/>
                <a:ea typeface="Poppins" pitchFamily="34" charset="-122"/>
                <a:cs typeface="Poppins" pitchFamily="34" charset="-120"/>
              </a:rPr>
              <a:t>Cloud-Secured</a:t>
            </a:r>
            <a:endParaRPr lang="en-US" sz="1600" dirty="0"/>
          </a:p>
        </p:txBody>
      </p:sp>
      <p:sp>
        <p:nvSpPr>
          <p:cNvPr id="16" name="Text 14"/>
          <p:cNvSpPr/>
          <p:nvPr/>
        </p:nvSpPr>
        <p:spPr>
          <a:xfrm>
            <a:off x="8321040" y="3703320"/>
            <a:ext cx="3017520" cy="2011680"/>
          </a:xfrm>
          <a:prstGeom prst="rect">
            <a:avLst/>
          </a:prstGeom>
          <a:noFill/>
          <a:ln/>
        </p:spPr>
        <p:txBody>
          <a:bodyPr wrap="square" rtlCol="0" anchor="ctr"/>
          <a:lstStyle/>
          <a:p>
            <a:pPr indent="0" marL="0">
              <a:lnSpc>
                <a:spcPct val="135000"/>
              </a:lnSpc>
              <a:buNone/>
            </a:pPr>
            <a:r>
              <a:rPr lang="en-US" sz="1250" dirty="0">
                <a:solidFill>
                  <a:srgbClr val="A9B0C6"/>
                </a:solidFill>
                <a:latin typeface="Poppins" pitchFamily="34" charset="0"/>
                <a:ea typeface="Poppins" pitchFamily="34" charset="-122"/>
                <a:cs typeface="Poppins" pitchFamily="34" charset="-120"/>
              </a:rPr>
              <a:t>Storage architecture based on private Amazon S3 buckets and IAM least-privilege access.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457200" y="411480"/>
            <a:ext cx="2377440" cy="384048"/>
          </a:xfrm>
          <a:prstGeom prst="roundRect">
            <a:avLst>
              <a:gd name="adj" fmla="val 50000"/>
            </a:avLst>
          </a:prstGeom>
          <a:solidFill>
            <a:srgbClr val="24D3EE">
              <a:alpha val="15000"/>
            </a:srgbClr>
          </a:solidFill>
          <a:ln w="12700">
            <a:solidFill>
              <a:srgbClr val="24D3EE"/>
            </a:solidFill>
            <a:prstDash val="solid"/>
          </a:ln>
        </p:spPr>
      </p:sp>
      <p:sp>
        <p:nvSpPr>
          <p:cNvPr id="3" name="Text 1"/>
          <p:cNvSpPr/>
          <p:nvPr/>
        </p:nvSpPr>
        <p:spPr>
          <a:xfrm>
            <a:off x="457200" y="411480"/>
            <a:ext cx="2377440" cy="384048"/>
          </a:xfrm>
          <a:prstGeom prst="rect">
            <a:avLst/>
          </a:prstGeom>
          <a:noFill/>
          <a:ln/>
        </p:spPr>
        <p:txBody>
          <a:bodyPr wrap="square" rtlCol="0" anchor="ctr"/>
          <a:lstStyle/>
          <a:p>
            <a:pPr algn="ctr" indent="0" marL="0">
              <a:buNone/>
            </a:pPr>
            <a:r>
              <a:rPr lang="en-US" sz="1100" b="1" spc="100" kern="0" dirty="0">
                <a:solidFill>
                  <a:srgbClr val="24D3EE"/>
                </a:solidFill>
                <a:latin typeface="Poppins" pitchFamily="34" charset="0"/>
                <a:ea typeface="Poppins" pitchFamily="34" charset="-122"/>
                <a:cs typeface="Poppins" pitchFamily="34" charset="-120"/>
              </a:rPr>
              <a:t>SYSTEM ARCHITECTURE</a:t>
            </a:r>
            <a:endParaRPr lang="en-US" sz="1100" dirty="0"/>
          </a:p>
        </p:txBody>
      </p:sp>
      <p:sp>
        <p:nvSpPr>
          <p:cNvPr id="4" name="Text 2"/>
          <p:cNvSpPr/>
          <p:nvPr/>
        </p:nvSpPr>
        <p:spPr>
          <a:xfrm>
            <a:off x="457200" y="914400"/>
            <a:ext cx="11247120" cy="822960"/>
          </a:xfrm>
          <a:prstGeom prst="rect">
            <a:avLst/>
          </a:prstGeom>
          <a:noFill/>
          <a:ln/>
        </p:spPr>
        <p:txBody>
          <a:bodyPr wrap="square" lIns="0" tIns="0" rIns="0" bIns="0" rtlCol="0" anchor="ctr"/>
          <a:lstStyle/>
          <a:p>
            <a:pPr indent="0" marL="0">
              <a:buNone/>
            </a:pPr>
            <a:r>
              <a:rPr lang="en-US" sz="3200" b="1" dirty="0">
                <a:solidFill>
                  <a:srgbClr val="F1F3FB"/>
                </a:solidFill>
                <a:latin typeface="Poppins" pitchFamily="34" charset="0"/>
                <a:ea typeface="Poppins" pitchFamily="34" charset="-122"/>
                <a:cs typeface="Poppins" pitchFamily="34" charset="-120"/>
              </a:rPr>
              <a:t>How the pieces connect</a:t>
            </a:r>
            <a:endParaRPr lang="en-US" sz="3200" dirty="0"/>
          </a:p>
        </p:txBody>
      </p:sp>
      <p:sp>
        <p:nvSpPr>
          <p:cNvPr id="5" name="Shape 3"/>
          <p:cNvSpPr/>
          <p:nvPr/>
        </p:nvSpPr>
        <p:spPr>
          <a:xfrm>
            <a:off x="457200" y="2834640"/>
            <a:ext cx="2377440" cy="1371600"/>
          </a:xfrm>
          <a:prstGeom prst="roundRect">
            <a:avLst>
              <a:gd name="adj" fmla="val 12000"/>
            </a:avLst>
          </a:prstGeom>
          <a:solidFill>
            <a:srgbClr val="161C2E"/>
          </a:solidFill>
          <a:ln w="19050">
            <a:solidFill>
              <a:srgbClr val="6D5EFC"/>
            </a:solidFill>
            <a:prstDash val="solid"/>
          </a:ln>
        </p:spPr>
      </p:sp>
      <p:sp>
        <p:nvSpPr>
          <p:cNvPr id="6" name="Text 4"/>
          <p:cNvSpPr/>
          <p:nvPr/>
        </p:nvSpPr>
        <p:spPr>
          <a:xfrm>
            <a:off x="457200" y="2834640"/>
            <a:ext cx="2377440" cy="1371600"/>
          </a:xfrm>
          <a:prstGeom prst="rect">
            <a:avLst/>
          </a:prstGeom>
          <a:noFill/>
          <a:ln/>
        </p:spPr>
        <p:txBody>
          <a:bodyPr wrap="square" rtlCol="0" anchor="ctr"/>
          <a:lstStyle/>
          <a:p>
            <a:pPr algn="ctr" indent="0" marL="0">
              <a:buNone/>
            </a:pPr>
            <a:r>
              <a:rPr lang="en-US" sz="1400" b="1" dirty="0">
                <a:solidFill>
                  <a:srgbClr val="F1F3FB"/>
                </a:solidFill>
                <a:latin typeface="Poppins" pitchFamily="34" charset="0"/>
                <a:ea typeface="Poppins" pitchFamily="34" charset="-122"/>
                <a:cs typeface="Poppins" pitchFamily="34" charset="-120"/>
              </a:rPr>
              <a:t>User</a:t>
            </a:r>
            <a:endParaRPr lang="en-US" sz="1400" dirty="0"/>
          </a:p>
          <a:p>
            <a:pPr algn="ctr" indent="0" marL="0">
              <a:buNone/>
            </a:pPr>
            <a:r>
              <a:rPr lang="en-US" sz="1400" b="1" dirty="0">
                <a:solidFill>
                  <a:srgbClr val="F1F3FB"/>
                </a:solidFill>
                <a:latin typeface="Poppins" pitchFamily="34" charset="0"/>
                <a:ea typeface="Poppins" pitchFamily="34" charset="-122"/>
                <a:cs typeface="Poppins" pitchFamily="34" charset="-120"/>
              </a:rPr>
              <a:t>Browser</a:t>
            </a:r>
            <a:endParaRPr lang="en-US" sz="1400" dirty="0"/>
          </a:p>
        </p:txBody>
      </p:sp>
      <p:sp>
        <p:nvSpPr>
          <p:cNvPr id="7" name="Shape 5"/>
          <p:cNvSpPr/>
          <p:nvPr/>
        </p:nvSpPr>
        <p:spPr>
          <a:xfrm>
            <a:off x="2880360" y="3364992"/>
            <a:ext cx="457200" cy="320040"/>
          </a:xfrm>
          <a:prstGeom prst="rightArrow">
            <a:avLst/>
          </a:prstGeom>
          <a:solidFill>
            <a:srgbClr val="6D7590"/>
          </a:solidFill>
          <a:ln/>
        </p:spPr>
      </p:sp>
      <p:sp>
        <p:nvSpPr>
          <p:cNvPr id="8" name="Shape 6"/>
          <p:cNvSpPr/>
          <p:nvPr/>
        </p:nvSpPr>
        <p:spPr>
          <a:xfrm>
            <a:off x="3291840" y="2834640"/>
            <a:ext cx="2377440" cy="1371600"/>
          </a:xfrm>
          <a:prstGeom prst="roundRect">
            <a:avLst>
              <a:gd name="adj" fmla="val 12000"/>
            </a:avLst>
          </a:prstGeom>
          <a:solidFill>
            <a:srgbClr val="161C2E"/>
          </a:solidFill>
          <a:ln w="19050">
            <a:solidFill>
              <a:srgbClr val="24D3EE"/>
            </a:solidFill>
            <a:prstDash val="solid"/>
          </a:ln>
        </p:spPr>
      </p:sp>
      <p:sp>
        <p:nvSpPr>
          <p:cNvPr id="9" name="Text 7"/>
          <p:cNvSpPr/>
          <p:nvPr/>
        </p:nvSpPr>
        <p:spPr>
          <a:xfrm>
            <a:off x="3291840" y="2834640"/>
            <a:ext cx="2377440" cy="1371600"/>
          </a:xfrm>
          <a:prstGeom prst="rect">
            <a:avLst/>
          </a:prstGeom>
          <a:noFill/>
          <a:ln/>
        </p:spPr>
        <p:txBody>
          <a:bodyPr wrap="square" rtlCol="0" anchor="ctr"/>
          <a:lstStyle/>
          <a:p>
            <a:pPr algn="ctr" indent="0" marL="0">
              <a:buNone/>
            </a:pPr>
            <a:r>
              <a:rPr lang="en-US" sz="1400" b="1" dirty="0">
                <a:solidFill>
                  <a:srgbClr val="F1F3FB"/>
                </a:solidFill>
                <a:latin typeface="Poppins" pitchFamily="34" charset="0"/>
                <a:ea typeface="Poppins" pitchFamily="34" charset="-122"/>
                <a:cs typeface="Poppins" pitchFamily="34" charset="-120"/>
              </a:rPr>
              <a:t>CertiVault</a:t>
            </a:r>
            <a:endParaRPr lang="en-US" sz="1400" dirty="0"/>
          </a:p>
          <a:p>
            <a:pPr algn="ctr" indent="0" marL="0">
              <a:buNone/>
            </a:pPr>
            <a:r>
              <a:rPr lang="en-US" sz="1400" b="1" dirty="0">
                <a:solidFill>
                  <a:srgbClr val="F1F3FB"/>
                </a:solidFill>
                <a:latin typeface="Poppins" pitchFamily="34" charset="0"/>
                <a:ea typeface="Poppins" pitchFamily="34" charset="-122"/>
                <a:cs typeface="Poppins" pitchFamily="34" charset="-120"/>
              </a:rPr>
              <a:t>Web App</a:t>
            </a:r>
            <a:endParaRPr lang="en-US" sz="1400" dirty="0"/>
          </a:p>
        </p:txBody>
      </p:sp>
      <p:sp>
        <p:nvSpPr>
          <p:cNvPr id="10" name="Shape 8"/>
          <p:cNvSpPr/>
          <p:nvPr/>
        </p:nvSpPr>
        <p:spPr>
          <a:xfrm>
            <a:off x="5715000" y="3364992"/>
            <a:ext cx="457200" cy="320040"/>
          </a:xfrm>
          <a:prstGeom prst="rightArrow">
            <a:avLst/>
          </a:prstGeom>
          <a:solidFill>
            <a:srgbClr val="6D7590"/>
          </a:solidFill>
          <a:ln/>
        </p:spPr>
      </p:sp>
      <p:sp>
        <p:nvSpPr>
          <p:cNvPr id="11" name="Shape 9"/>
          <p:cNvSpPr/>
          <p:nvPr/>
        </p:nvSpPr>
        <p:spPr>
          <a:xfrm>
            <a:off x="6126480" y="2834640"/>
            <a:ext cx="2377440" cy="1371600"/>
          </a:xfrm>
          <a:prstGeom prst="roundRect">
            <a:avLst>
              <a:gd name="adj" fmla="val 12000"/>
            </a:avLst>
          </a:prstGeom>
          <a:solidFill>
            <a:srgbClr val="161C2E"/>
          </a:solidFill>
          <a:ln w="19050">
            <a:solidFill>
              <a:srgbClr val="FFB454"/>
            </a:solidFill>
            <a:prstDash val="solid"/>
          </a:ln>
        </p:spPr>
      </p:sp>
      <p:sp>
        <p:nvSpPr>
          <p:cNvPr id="12" name="Text 10"/>
          <p:cNvSpPr/>
          <p:nvPr/>
        </p:nvSpPr>
        <p:spPr>
          <a:xfrm>
            <a:off x="6126480" y="2834640"/>
            <a:ext cx="2377440" cy="1371600"/>
          </a:xfrm>
          <a:prstGeom prst="rect">
            <a:avLst/>
          </a:prstGeom>
          <a:noFill/>
          <a:ln/>
        </p:spPr>
        <p:txBody>
          <a:bodyPr wrap="square" rtlCol="0" anchor="ctr"/>
          <a:lstStyle/>
          <a:p>
            <a:pPr algn="ctr" indent="0" marL="0">
              <a:buNone/>
            </a:pPr>
            <a:r>
              <a:rPr lang="en-US" sz="1400" b="1" dirty="0">
                <a:solidFill>
                  <a:srgbClr val="F1F3FB"/>
                </a:solidFill>
                <a:latin typeface="Poppins" pitchFamily="34" charset="0"/>
                <a:ea typeface="Poppins" pitchFamily="34" charset="-122"/>
                <a:cs typeface="Poppins" pitchFamily="34" charset="-120"/>
              </a:rPr>
              <a:t>AWS</a:t>
            </a:r>
            <a:endParaRPr lang="en-US" sz="1400" dirty="0"/>
          </a:p>
          <a:p>
            <a:pPr algn="ctr" indent="0" marL="0">
              <a:buNone/>
            </a:pPr>
            <a:r>
              <a:rPr lang="en-US" sz="1400" b="1" dirty="0">
                <a:solidFill>
                  <a:srgbClr val="F1F3FB"/>
                </a:solidFill>
                <a:latin typeface="Poppins" pitchFamily="34" charset="0"/>
                <a:ea typeface="Poppins" pitchFamily="34" charset="-122"/>
                <a:cs typeface="Poppins" pitchFamily="34" charset="-120"/>
              </a:rPr>
              <a:t>IAM</a:t>
            </a:r>
            <a:endParaRPr lang="en-US" sz="1400" dirty="0"/>
          </a:p>
        </p:txBody>
      </p:sp>
      <p:sp>
        <p:nvSpPr>
          <p:cNvPr id="13" name="Shape 11"/>
          <p:cNvSpPr/>
          <p:nvPr/>
        </p:nvSpPr>
        <p:spPr>
          <a:xfrm>
            <a:off x="8549640" y="3364992"/>
            <a:ext cx="457200" cy="320040"/>
          </a:xfrm>
          <a:prstGeom prst="rightArrow">
            <a:avLst/>
          </a:prstGeom>
          <a:solidFill>
            <a:srgbClr val="6D7590"/>
          </a:solidFill>
          <a:ln/>
        </p:spPr>
      </p:sp>
      <p:sp>
        <p:nvSpPr>
          <p:cNvPr id="14" name="Shape 12"/>
          <p:cNvSpPr/>
          <p:nvPr/>
        </p:nvSpPr>
        <p:spPr>
          <a:xfrm>
            <a:off x="8961120" y="2834640"/>
            <a:ext cx="2377440" cy="1371600"/>
          </a:xfrm>
          <a:prstGeom prst="roundRect">
            <a:avLst>
              <a:gd name="adj" fmla="val 12000"/>
            </a:avLst>
          </a:prstGeom>
          <a:solidFill>
            <a:srgbClr val="161C2E"/>
          </a:solidFill>
          <a:ln w="19050">
            <a:solidFill>
              <a:srgbClr val="33E6A4"/>
            </a:solidFill>
            <a:prstDash val="solid"/>
          </a:ln>
        </p:spPr>
      </p:sp>
      <p:sp>
        <p:nvSpPr>
          <p:cNvPr id="15" name="Text 13"/>
          <p:cNvSpPr/>
          <p:nvPr/>
        </p:nvSpPr>
        <p:spPr>
          <a:xfrm>
            <a:off x="8961120" y="2834640"/>
            <a:ext cx="2377440" cy="1371600"/>
          </a:xfrm>
          <a:prstGeom prst="rect">
            <a:avLst/>
          </a:prstGeom>
          <a:noFill/>
          <a:ln/>
        </p:spPr>
        <p:txBody>
          <a:bodyPr wrap="square" rtlCol="0" anchor="ctr"/>
          <a:lstStyle/>
          <a:p>
            <a:pPr algn="ctr" indent="0" marL="0">
              <a:buNone/>
            </a:pPr>
            <a:r>
              <a:rPr lang="en-US" sz="1400" b="1" dirty="0">
                <a:solidFill>
                  <a:srgbClr val="F1F3FB"/>
                </a:solidFill>
                <a:latin typeface="Poppins" pitchFamily="34" charset="0"/>
                <a:ea typeface="Poppins" pitchFamily="34" charset="-122"/>
                <a:cs typeface="Poppins" pitchFamily="34" charset="-120"/>
              </a:rPr>
              <a:t>Amazon S3</a:t>
            </a:r>
            <a:endParaRPr lang="en-US" sz="1400" dirty="0"/>
          </a:p>
          <a:p>
            <a:pPr algn="ctr" indent="0" marL="0">
              <a:buNone/>
            </a:pPr>
            <a:r>
              <a:rPr lang="en-US" sz="1400" b="1" dirty="0">
                <a:solidFill>
                  <a:srgbClr val="F1F3FB"/>
                </a:solidFill>
                <a:latin typeface="Poppins" pitchFamily="34" charset="0"/>
                <a:ea typeface="Poppins" pitchFamily="34" charset="-122"/>
                <a:cs typeface="Poppins" pitchFamily="34" charset="-120"/>
              </a:rPr>
              <a:t>Bucket</a:t>
            </a:r>
            <a:endParaRPr lang="en-US" sz="1400" dirty="0"/>
          </a:p>
        </p:txBody>
      </p:sp>
      <p:sp>
        <p:nvSpPr>
          <p:cNvPr id="16" name="Text 14"/>
          <p:cNvSpPr/>
          <p:nvPr/>
        </p:nvSpPr>
        <p:spPr>
          <a:xfrm>
            <a:off x="1097280" y="4663440"/>
            <a:ext cx="9966960" cy="1097280"/>
          </a:xfrm>
          <a:prstGeom prst="rect">
            <a:avLst/>
          </a:prstGeom>
          <a:noFill/>
          <a:ln/>
        </p:spPr>
        <p:txBody>
          <a:bodyPr wrap="square" rtlCol="0" anchor="ctr"/>
          <a:lstStyle/>
          <a:p>
            <a:pPr algn="ctr" indent="0" marL="0">
              <a:lnSpc>
                <a:spcPct val="140000"/>
              </a:lnSpc>
              <a:buNone/>
            </a:pPr>
            <a:r>
              <a:rPr lang="en-US" sz="1400" dirty="0">
                <a:solidFill>
                  <a:srgbClr val="A9B0C6"/>
                </a:solidFill>
                <a:latin typeface="Poppins" pitchFamily="34" charset="0"/>
                <a:ea typeface="Poppins" pitchFamily="34" charset="-122"/>
                <a:cs typeface="Poppins" pitchFamily="34" charset="-120"/>
              </a:rPr>
              <a:t>Requests flow left to right: the browser talks to the app, the app authenticates through IAM, and IAM authorizes access to the private S3 bucket where certificate files live.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457200" y="411480"/>
            <a:ext cx="2377440" cy="384048"/>
          </a:xfrm>
          <a:prstGeom prst="roundRect">
            <a:avLst>
              <a:gd name="adj" fmla="val 50000"/>
            </a:avLst>
          </a:prstGeom>
          <a:solidFill>
            <a:srgbClr val="33E6A4">
              <a:alpha val="15000"/>
            </a:srgbClr>
          </a:solidFill>
          <a:ln w="12700">
            <a:solidFill>
              <a:srgbClr val="33E6A4"/>
            </a:solidFill>
            <a:prstDash val="solid"/>
          </a:ln>
        </p:spPr>
      </p:sp>
      <p:sp>
        <p:nvSpPr>
          <p:cNvPr id="3" name="Text 1"/>
          <p:cNvSpPr/>
          <p:nvPr/>
        </p:nvSpPr>
        <p:spPr>
          <a:xfrm>
            <a:off x="457200" y="411480"/>
            <a:ext cx="2377440" cy="384048"/>
          </a:xfrm>
          <a:prstGeom prst="rect">
            <a:avLst/>
          </a:prstGeom>
          <a:noFill/>
          <a:ln/>
        </p:spPr>
        <p:txBody>
          <a:bodyPr wrap="square" rtlCol="0" anchor="ctr"/>
          <a:lstStyle/>
          <a:p>
            <a:pPr algn="ctr" indent="0" marL="0">
              <a:buNone/>
            </a:pPr>
            <a:r>
              <a:rPr lang="en-US" sz="1100" b="1" spc="100" kern="0" dirty="0">
                <a:solidFill>
                  <a:srgbClr val="33E6A4"/>
                </a:solidFill>
                <a:latin typeface="Poppins" pitchFamily="34" charset="0"/>
                <a:ea typeface="Poppins" pitchFamily="34" charset="-122"/>
                <a:cs typeface="Poppins" pitchFamily="34" charset="-120"/>
              </a:rPr>
              <a:t>AWS SERVICE</a:t>
            </a:r>
            <a:endParaRPr lang="en-US" sz="1100" dirty="0"/>
          </a:p>
        </p:txBody>
      </p:sp>
      <p:sp>
        <p:nvSpPr>
          <p:cNvPr id="4" name="Text 2"/>
          <p:cNvSpPr/>
          <p:nvPr/>
        </p:nvSpPr>
        <p:spPr>
          <a:xfrm>
            <a:off x="457200" y="914400"/>
            <a:ext cx="11247120" cy="822960"/>
          </a:xfrm>
          <a:prstGeom prst="rect">
            <a:avLst/>
          </a:prstGeom>
          <a:noFill/>
          <a:ln/>
        </p:spPr>
        <p:txBody>
          <a:bodyPr wrap="square" lIns="0" tIns="0" rIns="0" bIns="0" rtlCol="0" anchor="ctr"/>
          <a:lstStyle/>
          <a:p>
            <a:pPr indent="0" marL="0">
              <a:buNone/>
            </a:pPr>
            <a:r>
              <a:rPr lang="en-US" sz="3200" b="1" dirty="0">
                <a:solidFill>
                  <a:srgbClr val="F1F3FB"/>
                </a:solidFill>
                <a:latin typeface="Poppins" pitchFamily="34" charset="0"/>
                <a:ea typeface="Poppins" pitchFamily="34" charset="-122"/>
                <a:cs typeface="Poppins" pitchFamily="34" charset="-120"/>
              </a:rPr>
              <a:t>Amazon S3 — the storage layer</a:t>
            </a:r>
            <a:endParaRPr lang="en-US" sz="3200" dirty="0"/>
          </a:p>
        </p:txBody>
      </p:sp>
      <p:sp>
        <p:nvSpPr>
          <p:cNvPr id="5" name="Text 3"/>
          <p:cNvSpPr/>
          <p:nvPr/>
        </p:nvSpPr>
        <p:spPr>
          <a:xfrm>
            <a:off x="457200" y="1874520"/>
            <a:ext cx="5577840" cy="1188720"/>
          </a:xfrm>
          <a:prstGeom prst="rect">
            <a:avLst/>
          </a:prstGeom>
          <a:noFill/>
          <a:ln/>
        </p:spPr>
        <p:txBody>
          <a:bodyPr wrap="square" rtlCol="0" anchor="ctr"/>
          <a:lstStyle/>
          <a:p>
            <a:pPr indent="0" marL="0">
              <a:lnSpc>
                <a:spcPct val="140000"/>
              </a:lnSpc>
              <a:buNone/>
            </a:pPr>
            <a:r>
              <a:rPr lang="en-US" sz="1450" dirty="0">
                <a:solidFill>
                  <a:srgbClr val="A9B0C6"/>
                </a:solidFill>
                <a:latin typeface="Poppins" pitchFamily="34" charset="0"/>
                <a:ea typeface="Poppins" pitchFamily="34" charset="-122"/>
                <a:cs typeface="Poppins" pitchFamily="34" charset="-120"/>
              </a:rPr>
              <a:t>Amazon Simple Storage Service (S3) stores certificate files as objects inside a private bucket, organized using category-based key prefixes.</a:t>
            </a:r>
            <a:endParaRPr lang="en-US" sz="1450" dirty="0"/>
          </a:p>
        </p:txBody>
      </p:sp>
      <p:sp>
        <p:nvSpPr>
          <p:cNvPr id="6" name="Text 4"/>
          <p:cNvSpPr/>
          <p:nvPr/>
        </p:nvSpPr>
        <p:spPr>
          <a:xfrm>
            <a:off x="457200" y="3200400"/>
            <a:ext cx="5577840" cy="2560320"/>
          </a:xfrm>
          <a:prstGeom prst="rect">
            <a:avLst/>
          </a:prstGeom>
          <a:noFill/>
          <a:ln/>
        </p:spPr>
        <p:txBody>
          <a:bodyPr wrap="square" rtlCol="0" anchor="ctr"/>
          <a:lstStyle/>
          <a:p>
            <a:pPr marL="342900" indent="-342900">
              <a:spcAft>
                <a:spcPts val="1200"/>
              </a:spcAft>
              <a:buSzPct val="100000"/>
              <a:buChar char="●"/>
            </a:pPr>
            <a:r>
              <a:rPr lang="en-US" sz="1300" dirty="0">
                <a:solidFill>
                  <a:srgbClr val="A9B0C6"/>
                </a:solidFill>
                <a:latin typeface="Poppins" pitchFamily="34" charset="0"/>
                <a:ea typeface="Poppins" pitchFamily="34" charset="-122"/>
                <a:cs typeface="Poppins" pitchFamily="34" charset="-120"/>
              </a:rPr>
              <a:t>Bucket: certivault-user-storage</a:t>
            </a:r>
            <a:endParaRPr lang="en-US" sz="1300" dirty="0"/>
          </a:p>
          <a:p>
            <a:pPr marL="342900" indent="-342900">
              <a:spcAft>
                <a:spcPts val="1200"/>
              </a:spcAft>
              <a:buSzPct val="100000"/>
              <a:buChar char="●"/>
            </a:pPr>
            <a:r>
              <a:rPr lang="en-US" sz="1300" dirty="0">
                <a:solidFill>
                  <a:srgbClr val="A9B0C6"/>
                </a:solidFill>
                <a:latin typeface="Poppins" pitchFamily="34" charset="0"/>
                <a:ea typeface="Poppins" pitchFamily="34" charset="-122"/>
                <a:cs typeface="Poppins" pitchFamily="34" charset="-120"/>
              </a:rPr>
              <a:t>Folders (prefixes): internship/, academic/, achievement/</a:t>
            </a:r>
            <a:endParaRPr lang="en-US" sz="1300" dirty="0"/>
          </a:p>
          <a:p>
            <a:pPr marL="342900" indent="-342900">
              <a:spcAft>
                <a:spcPts val="1200"/>
              </a:spcAft>
              <a:buSzPct val="100000"/>
              <a:buChar char="●"/>
            </a:pPr>
            <a:r>
              <a:rPr lang="en-US" sz="1300" dirty="0">
                <a:solidFill>
                  <a:srgbClr val="A9B0C6"/>
                </a:solidFill>
                <a:latin typeface="Poppins" pitchFamily="34" charset="0"/>
                <a:ea typeface="Poppins" pitchFamily="34" charset="-122"/>
                <a:cs typeface="Poppins" pitchFamily="34" charset="-120"/>
              </a:rPr>
              <a:t>Public access blocked — bucket stays private</a:t>
            </a:r>
            <a:endParaRPr lang="en-US" sz="1300" dirty="0"/>
          </a:p>
          <a:p>
            <a:pPr marL="342900" indent="-342900">
              <a:spcAft>
                <a:spcPts val="1200"/>
              </a:spcAft>
              <a:buSzPct val="100000"/>
              <a:buChar char="●"/>
            </a:pPr>
            <a:r>
              <a:rPr lang="en-US" sz="1300" dirty="0">
                <a:solidFill>
                  <a:srgbClr val="A9B0C6"/>
                </a:solidFill>
                <a:latin typeface="Poppins" pitchFamily="34" charset="0"/>
                <a:ea typeface="Poppins" pitchFamily="34" charset="-122"/>
                <a:cs typeface="Poppins" pitchFamily="34" charset="-120"/>
              </a:rPr>
              <a:t>99.999999999% (11 nines) durability</a:t>
            </a:r>
            <a:endParaRPr lang="en-US" sz="1300" dirty="0"/>
          </a:p>
        </p:txBody>
      </p:sp>
      <p:sp>
        <p:nvSpPr>
          <p:cNvPr id="7" name="Shape 5"/>
          <p:cNvSpPr/>
          <p:nvPr/>
        </p:nvSpPr>
        <p:spPr>
          <a:xfrm>
            <a:off x="6400800" y="1874520"/>
            <a:ext cx="5303520" cy="4480560"/>
          </a:xfrm>
          <a:prstGeom prst="roundRect">
            <a:avLst>
              <a:gd name="adj" fmla="val 3265"/>
            </a:avLst>
          </a:prstGeom>
          <a:solidFill>
            <a:srgbClr val="161C2E"/>
          </a:solidFill>
          <a:ln/>
        </p:spPr>
      </p:sp>
      <p:sp>
        <p:nvSpPr>
          <p:cNvPr id="8" name="Text 6"/>
          <p:cNvSpPr/>
          <p:nvPr/>
        </p:nvSpPr>
        <p:spPr>
          <a:xfrm>
            <a:off x="6675120" y="2103120"/>
            <a:ext cx="4754880" cy="365760"/>
          </a:xfrm>
          <a:prstGeom prst="rect">
            <a:avLst/>
          </a:prstGeom>
          <a:noFill/>
          <a:ln/>
        </p:spPr>
        <p:txBody>
          <a:bodyPr wrap="square" rtlCol="0" anchor="ctr"/>
          <a:lstStyle/>
          <a:p>
            <a:pPr indent="0" marL="0">
              <a:buNone/>
            </a:pPr>
            <a:r>
              <a:rPr lang="en-US" sz="1300" b="1" dirty="0">
                <a:solidFill>
                  <a:srgbClr val="33E6A4"/>
                </a:solidFill>
                <a:latin typeface="Consolas" pitchFamily="34" charset="0"/>
                <a:ea typeface="Consolas" pitchFamily="34" charset="-122"/>
                <a:cs typeface="Consolas" pitchFamily="34" charset="-120"/>
              </a:rPr>
              <a:t>certivault-user-storage/</a:t>
            </a:r>
            <a:endParaRPr lang="en-US" sz="1300" dirty="0"/>
          </a:p>
        </p:txBody>
      </p:sp>
      <p:sp>
        <p:nvSpPr>
          <p:cNvPr id="9" name="Text 7"/>
          <p:cNvSpPr/>
          <p:nvPr/>
        </p:nvSpPr>
        <p:spPr>
          <a:xfrm>
            <a:off x="6675120" y="2560320"/>
            <a:ext cx="4754880" cy="3566160"/>
          </a:xfrm>
          <a:prstGeom prst="rect">
            <a:avLst/>
          </a:prstGeom>
          <a:noFill/>
          <a:ln/>
        </p:spPr>
        <p:txBody>
          <a:bodyPr wrap="square" rtlCol="0" anchor="ctr"/>
          <a:lstStyle/>
          <a:p>
            <a:pPr indent="0" marL="0">
              <a:lnSpc>
                <a:spcPct val="130000"/>
              </a:lnSpc>
              <a:buNone/>
            </a:pPr>
            <a:r>
              <a:rPr lang="en-US" sz="1200" dirty="0">
                <a:solidFill>
                  <a:srgbClr val="A9B0C6"/>
                </a:solidFill>
                <a:latin typeface="Consolas" pitchFamily="34" charset="0"/>
                <a:ea typeface="Consolas" pitchFamily="34" charset="-122"/>
                <a:cs typeface="Consolas" pitchFamily="34" charset="-120"/>
              </a:rPr>
              <a:t>├── internship/</a:t>
            </a:r>
            <a:endParaRPr lang="en-US" sz="1200" dirty="0"/>
          </a:p>
          <a:p>
            <a:pPr indent="0" marL="0">
              <a:lnSpc>
                <a:spcPct val="130000"/>
              </a:lnSpc>
              <a:buNone/>
            </a:pPr>
            <a:r>
              <a:rPr lang="en-US" sz="1200" dirty="0">
                <a:solidFill>
                  <a:srgbClr val="A9B0C6"/>
                </a:solidFill>
                <a:latin typeface="Consolas" pitchFamily="34" charset="0"/>
                <a:ea typeface="Consolas" pitchFamily="34" charset="-122"/>
                <a:cs typeface="Consolas" pitchFamily="34" charset="-120"/>
              </a:rPr>
              <a:t>│    ├── ibm-genai-internship.pdf</a:t>
            </a:r>
            <a:endParaRPr lang="en-US" sz="1200" dirty="0"/>
          </a:p>
          <a:p>
            <a:pPr indent="0" marL="0">
              <a:lnSpc>
                <a:spcPct val="130000"/>
              </a:lnSpc>
              <a:buNone/>
            </a:pPr>
            <a:r>
              <a:rPr lang="en-US" sz="1200" dirty="0">
                <a:solidFill>
                  <a:srgbClr val="A9B0C6"/>
                </a:solidFill>
                <a:latin typeface="Consolas" pitchFamily="34" charset="0"/>
                <a:ea typeface="Consolas" pitchFamily="34" charset="-122"/>
                <a:cs typeface="Consolas" pitchFamily="34" charset="-120"/>
              </a:rPr>
              <a:t>│    └── web-dev-bootcamp.pdf</a:t>
            </a:r>
            <a:endParaRPr lang="en-US" sz="1200" dirty="0"/>
          </a:p>
          <a:p>
            <a:pPr indent="0" marL="0">
              <a:lnSpc>
                <a:spcPct val="130000"/>
              </a:lnSpc>
              <a:buNone/>
            </a:pPr>
            <a:r>
              <a:rPr lang="en-US" sz="1200" dirty="0">
                <a:solidFill>
                  <a:srgbClr val="A9B0C6"/>
                </a:solidFill>
                <a:latin typeface="Consolas" pitchFamily="34" charset="0"/>
                <a:ea typeface="Consolas" pitchFamily="34" charset="-122"/>
                <a:cs typeface="Consolas" pitchFamily="34" charset="-120"/>
              </a:rPr>
              <a:t>├── academic/</a:t>
            </a:r>
            <a:endParaRPr lang="en-US" sz="1200" dirty="0"/>
          </a:p>
          <a:p>
            <a:pPr indent="0" marL="0">
              <a:lnSpc>
                <a:spcPct val="130000"/>
              </a:lnSpc>
              <a:buNone/>
            </a:pPr>
            <a:r>
              <a:rPr lang="en-US" sz="1200" dirty="0">
                <a:solidFill>
                  <a:srgbClr val="A9B0C6"/>
                </a:solidFill>
                <a:latin typeface="Consolas" pitchFamily="34" charset="0"/>
                <a:ea typeface="Consolas" pitchFamily="34" charset="-122"/>
                <a:cs typeface="Consolas" pitchFamily="34" charset="-120"/>
              </a:rPr>
              <a:t>│    └── semester-4-marksheet.pdf</a:t>
            </a:r>
            <a:endParaRPr lang="en-US" sz="1200" dirty="0"/>
          </a:p>
          <a:p>
            <a:pPr indent="0" marL="0">
              <a:lnSpc>
                <a:spcPct val="130000"/>
              </a:lnSpc>
              <a:buNone/>
            </a:pPr>
            <a:r>
              <a:rPr lang="en-US" sz="1200" dirty="0">
                <a:solidFill>
                  <a:srgbClr val="A9B0C6"/>
                </a:solidFill>
                <a:latin typeface="Consolas" pitchFamily="34" charset="0"/>
                <a:ea typeface="Consolas" pitchFamily="34" charset="-122"/>
                <a:cs typeface="Consolas" pitchFamily="34" charset="-120"/>
              </a:rPr>
              <a:t>└── achievement/</a:t>
            </a:r>
            <a:endParaRPr lang="en-US" sz="1200" dirty="0"/>
          </a:p>
          <a:p>
            <a:pPr indent="0" marL="0">
              <a:lnSpc>
                <a:spcPct val="130000"/>
              </a:lnSpc>
              <a:buNone/>
            </a:pPr>
            <a:r>
              <a:rPr lang="en-US" sz="1200" dirty="0">
                <a:solidFill>
                  <a:srgbClr val="A9B0C6"/>
                </a:solidFill>
                <a:latin typeface="Consolas" pitchFamily="34" charset="0"/>
                <a:ea typeface="Consolas" pitchFamily="34" charset="-122"/>
                <a:cs typeface="Consolas" pitchFamily="34" charset="-120"/>
              </a:rPr>
              <a:t>     ├── aws-cloud-practitioner.pdf</a:t>
            </a:r>
            <a:endParaRPr lang="en-US" sz="1200" dirty="0"/>
          </a:p>
          <a:p>
            <a:pPr indent="0" marL="0">
              <a:lnSpc>
                <a:spcPct val="130000"/>
              </a:lnSpc>
              <a:buNone/>
            </a:pPr>
            <a:r>
              <a:rPr lang="en-US" sz="1200" dirty="0">
                <a:solidFill>
                  <a:srgbClr val="A9B0C6"/>
                </a:solidFill>
                <a:latin typeface="Consolas" pitchFamily="34" charset="0"/>
                <a:ea typeface="Consolas" pitchFamily="34" charset="-122"/>
                <a:cs typeface="Consolas" pitchFamily="34" charset="-120"/>
              </a:rPr>
              <a:t>     └── hackathon-winner.pdf</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457200" y="411480"/>
            <a:ext cx="2377440" cy="384048"/>
          </a:xfrm>
          <a:prstGeom prst="roundRect">
            <a:avLst>
              <a:gd name="adj" fmla="val 50000"/>
            </a:avLst>
          </a:prstGeom>
          <a:solidFill>
            <a:srgbClr val="FFB454">
              <a:alpha val="15000"/>
            </a:srgbClr>
          </a:solidFill>
          <a:ln w="12700">
            <a:solidFill>
              <a:srgbClr val="FFB454"/>
            </a:solidFill>
            <a:prstDash val="solid"/>
          </a:ln>
        </p:spPr>
      </p:sp>
      <p:sp>
        <p:nvSpPr>
          <p:cNvPr id="3" name="Text 1"/>
          <p:cNvSpPr/>
          <p:nvPr/>
        </p:nvSpPr>
        <p:spPr>
          <a:xfrm>
            <a:off x="457200" y="411480"/>
            <a:ext cx="2377440" cy="384048"/>
          </a:xfrm>
          <a:prstGeom prst="rect">
            <a:avLst/>
          </a:prstGeom>
          <a:noFill/>
          <a:ln/>
        </p:spPr>
        <p:txBody>
          <a:bodyPr wrap="square" rtlCol="0" anchor="ctr"/>
          <a:lstStyle/>
          <a:p>
            <a:pPr algn="ctr" indent="0" marL="0">
              <a:buNone/>
            </a:pPr>
            <a:r>
              <a:rPr lang="en-US" sz="1100" b="1" spc="100" kern="0" dirty="0">
                <a:solidFill>
                  <a:srgbClr val="FFB454"/>
                </a:solidFill>
                <a:latin typeface="Poppins" pitchFamily="34" charset="0"/>
                <a:ea typeface="Poppins" pitchFamily="34" charset="-122"/>
                <a:cs typeface="Poppins" pitchFamily="34" charset="-120"/>
              </a:rPr>
              <a:t>AWS SERVICE</a:t>
            </a:r>
            <a:endParaRPr lang="en-US" sz="1100" dirty="0"/>
          </a:p>
        </p:txBody>
      </p:sp>
      <p:sp>
        <p:nvSpPr>
          <p:cNvPr id="4" name="Text 2"/>
          <p:cNvSpPr/>
          <p:nvPr/>
        </p:nvSpPr>
        <p:spPr>
          <a:xfrm>
            <a:off x="457200" y="914400"/>
            <a:ext cx="11247120" cy="822960"/>
          </a:xfrm>
          <a:prstGeom prst="rect">
            <a:avLst/>
          </a:prstGeom>
          <a:noFill/>
          <a:ln/>
        </p:spPr>
        <p:txBody>
          <a:bodyPr wrap="square" lIns="0" tIns="0" rIns="0" bIns="0" rtlCol="0" anchor="ctr"/>
          <a:lstStyle/>
          <a:p>
            <a:pPr indent="0" marL="0">
              <a:buNone/>
            </a:pPr>
            <a:r>
              <a:rPr lang="en-US" sz="3200" b="1" dirty="0">
                <a:solidFill>
                  <a:srgbClr val="F1F3FB"/>
                </a:solidFill>
                <a:latin typeface="Poppins" pitchFamily="34" charset="0"/>
                <a:ea typeface="Poppins" pitchFamily="34" charset="-122"/>
                <a:cs typeface="Poppins" pitchFamily="34" charset="-120"/>
              </a:rPr>
              <a:t>AWS IAM — the security layer</a:t>
            </a:r>
            <a:endParaRPr lang="en-US" sz="3200" dirty="0"/>
          </a:p>
        </p:txBody>
      </p:sp>
      <p:sp>
        <p:nvSpPr>
          <p:cNvPr id="5" name="Text 3"/>
          <p:cNvSpPr/>
          <p:nvPr/>
        </p:nvSpPr>
        <p:spPr>
          <a:xfrm>
            <a:off x="457200" y="1874520"/>
            <a:ext cx="11155680" cy="822960"/>
          </a:xfrm>
          <a:prstGeom prst="rect">
            <a:avLst/>
          </a:prstGeom>
          <a:noFill/>
          <a:ln/>
        </p:spPr>
        <p:txBody>
          <a:bodyPr wrap="square" rtlCol="0" anchor="ctr"/>
          <a:lstStyle/>
          <a:p>
            <a:pPr indent="0" marL="0">
              <a:lnSpc>
                <a:spcPct val="140000"/>
              </a:lnSpc>
              <a:buNone/>
            </a:pPr>
            <a:r>
              <a:rPr lang="en-US" sz="1450" dirty="0">
                <a:solidFill>
                  <a:srgbClr val="A9B0C6"/>
                </a:solidFill>
                <a:latin typeface="Poppins" pitchFamily="34" charset="0"/>
                <a:ea typeface="Poppins" pitchFamily="34" charset="-122"/>
                <a:cs typeface="Poppins" pitchFamily="34" charset="-120"/>
              </a:rPr>
              <a:t>Identity and Access Management (IAM) controls exactly who — or what — can access the S3 bucket, and exactly what they're allowed to do.</a:t>
            </a:r>
            <a:endParaRPr lang="en-US" sz="1450" dirty="0"/>
          </a:p>
        </p:txBody>
      </p:sp>
      <p:sp>
        <p:nvSpPr>
          <p:cNvPr id="6" name="Shape 4"/>
          <p:cNvSpPr/>
          <p:nvPr/>
        </p:nvSpPr>
        <p:spPr>
          <a:xfrm>
            <a:off x="457200" y="2834640"/>
            <a:ext cx="3611880" cy="3200400"/>
          </a:xfrm>
          <a:prstGeom prst="roundRect">
            <a:avLst>
              <a:gd name="adj" fmla="val 4571"/>
            </a:avLst>
          </a:prstGeom>
          <a:solidFill>
            <a:srgbClr val="161C2E"/>
          </a:solidFill>
          <a:ln w="12700">
            <a:solidFill>
              <a:srgbClr val="FFB454"/>
            </a:solidFill>
            <a:prstDash val="solid"/>
          </a:ln>
        </p:spPr>
      </p:sp>
      <p:sp>
        <p:nvSpPr>
          <p:cNvPr id="7" name="Text 5"/>
          <p:cNvSpPr/>
          <p:nvPr/>
        </p:nvSpPr>
        <p:spPr>
          <a:xfrm>
            <a:off x="685800" y="3063240"/>
            <a:ext cx="548640" cy="548640"/>
          </a:xfrm>
          <a:prstGeom prst="rect">
            <a:avLst/>
          </a:prstGeom>
          <a:noFill/>
          <a:ln/>
        </p:spPr>
        <p:txBody>
          <a:bodyPr wrap="square" rtlCol="0" anchor="ctr"/>
          <a:lstStyle/>
          <a:p>
            <a:pPr indent="0" marL="0">
              <a:buNone/>
            </a:pPr>
            <a:r>
              <a:rPr lang="en-US" sz="2200" b="1" dirty="0">
                <a:solidFill>
                  <a:srgbClr val="FFB454"/>
                </a:solidFill>
                <a:latin typeface="Poppins" pitchFamily="34" charset="0"/>
                <a:ea typeface="Poppins" pitchFamily="34" charset="-122"/>
                <a:cs typeface="Poppins" pitchFamily="34" charset="-120"/>
              </a:rPr>
              <a:t>1</a:t>
            </a:r>
            <a:endParaRPr lang="en-US" sz="2200" dirty="0"/>
          </a:p>
        </p:txBody>
      </p:sp>
      <p:sp>
        <p:nvSpPr>
          <p:cNvPr id="8" name="Text 6"/>
          <p:cNvSpPr/>
          <p:nvPr/>
        </p:nvSpPr>
        <p:spPr>
          <a:xfrm>
            <a:off x="685800" y="3657600"/>
            <a:ext cx="3200400" cy="457200"/>
          </a:xfrm>
          <a:prstGeom prst="rect">
            <a:avLst/>
          </a:prstGeom>
          <a:noFill/>
          <a:ln/>
        </p:spPr>
        <p:txBody>
          <a:bodyPr wrap="square" rtlCol="0" anchor="ctr"/>
          <a:lstStyle/>
          <a:p>
            <a:pPr indent="0" marL="0">
              <a:buNone/>
            </a:pPr>
            <a:r>
              <a:rPr lang="en-US" sz="1500" b="1" dirty="0">
                <a:solidFill>
                  <a:srgbClr val="F1F3FB"/>
                </a:solidFill>
                <a:latin typeface="Poppins" pitchFamily="34" charset="0"/>
                <a:ea typeface="Poppins" pitchFamily="34" charset="-122"/>
                <a:cs typeface="Poppins" pitchFamily="34" charset="-120"/>
              </a:rPr>
              <a:t>IAM User</a:t>
            </a:r>
            <a:endParaRPr lang="en-US" sz="1500" dirty="0"/>
          </a:p>
        </p:txBody>
      </p:sp>
      <p:sp>
        <p:nvSpPr>
          <p:cNvPr id="9" name="Text 7"/>
          <p:cNvSpPr/>
          <p:nvPr/>
        </p:nvSpPr>
        <p:spPr>
          <a:xfrm>
            <a:off x="685800" y="4114800"/>
            <a:ext cx="3200400" cy="1828800"/>
          </a:xfrm>
          <a:prstGeom prst="rect">
            <a:avLst/>
          </a:prstGeom>
          <a:noFill/>
          <a:ln/>
        </p:spPr>
        <p:txBody>
          <a:bodyPr wrap="square" rtlCol="0" anchor="ctr"/>
          <a:lstStyle/>
          <a:p>
            <a:pPr indent="0" marL="0">
              <a:lnSpc>
                <a:spcPct val="130000"/>
              </a:lnSpc>
              <a:buNone/>
            </a:pPr>
            <a:r>
              <a:rPr lang="en-US" sz="1150" dirty="0">
                <a:solidFill>
                  <a:srgbClr val="A9B0C6"/>
                </a:solidFill>
                <a:latin typeface="Poppins" pitchFamily="34" charset="0"/>
                <a:ea typeface="Poppins" pitchFamily="34" charset="-122"/>
                <a:cs typeface="Poppins" pitchFamily="34" charset="-120"/>
              </a:rPr>
              <a:t>A dedicated identity (certivault-app-user) created just for this app — never the AWS root account.</a:t>
            </a:r>
            <a:endParaRPr lang="en-US" sz="1150" dirty="0"/>
          </a:p>
        </p:txBody>
      </p:sp>
      <p:sp>
        <p:nvSpPr>
          <p:cNvPr id="10" name="Shape 8"/>
          <p:cNvSpPr/>
          <p:nvPr/>
        </p:nvSpPr>
        <p:spPr>
          <a:xfrm>
            <a:off x="4251960" y="2834640"/>
            <a:ext cx="3611880" cy="3200400"/>
          </a:xfrm>
          <a:prstGeom prst="roundRect">
            <a:avLst>
              <a:gd name="adj" fmla="val 4571"/>
            </a:avLst>
          </a:prstGeom>
          <a:solidFill>
            <a:srgbClr val="161C2E"/>
          </a:solidFill>
          <a:ln w="12700">
            <a:solidFill>
              <a:srgbClr val="FFB454"/>
            </a:solidFill>
            <a:prstDash val="solid"/>
          </a:ln>
        </p:spPr>
      </p:sp>
      <p:sp>
        <p:nvSpPr>
          <p:cNvPr id="11" name="Text 9"/>
          <p:cNvSpPr/>
          <p:nvPr/>
        </p:nvSpPr>
        <p:spPr>
          <a:xfrm>
            <a:off x="4480560" y="3063240"/>
            <a:ext cx="548640" cy="548640"/>
          </a:xfrm>
          <a:prstGeom prst="rect">
            <a:avLst/>
          </a:prstGeom>
          <a:noFill/>
          <a:ln/>
        </p:spPr>
        <p:txBody>
          <a:bodyPr wrap="square" rtlCol="0" anchor="ctr"/>
          <a:lstStyle/>
          <a:p>
            <a:pPr indent="0" marL="0">
              <a:buNone/>
            </a:pPr>
            <a:r>
              <a:rPr lang="en-US" sz="2200" b="1" dirty="0">
                <a:solidFill>
                  <a:srgbClr val="FFB454"/>
                </a:solidFill>
                <a:latin typeface="Poppins" pitchFamily="34" charset="0"/>
                <a:ea typeface="Poppins" pitchFamily="34" charset="-122"/>
                <a:cs typeface="Poppins" pitchFamily="34" charset="-120"/>
              </a:rPr>
              <a:t>2</a:t>
            </a:r>
            <a:endParaRPr lang="en-US" sz="2200" dirty="0"/>
          </a:p>
        </p:txBody>
      </p:sp>
      <p:sp>
        <p:nvSpPr>
          <p:cNvPr id="12" name="Text 10"/>
          <p:cNvSpPr/>
          <p:nvPr/>
        </p:nvSpPr>
        <p:spPr>
          <a:xfrm>
            <a:off x="4480560" y="3657600"/>
            <a:ext cx="3200400" cy="457200"/>
          </a:xfrm>
          <a:prstGeom prst="rect">
            <a:avLst/>
          </a:prstGeom>
          <a:noFill/>
          <a:ln/>
        </p:spPr>
        <p:txBody>
          <a:bodyPr wrap="square" rtlCol="0" anchor="ctr"/>
          <a:lstStyle/>
          <a:p>
            <a:pPr indent="0" marL="0">
              <a:buNone/>
            </a:pPr>
            <a:r>
              <a:rPr lang="en-US" sz="1500" b="1" dirty="0">
                <a:solidFill>
                  <a:srgbClr val="F1F3FB"/>
                </a:solidFill>
                <a:latin typeface="Poppins" pitchFamily="34" charset="0"/>
                <a:ea typeface="Poppins" pitchFamily="34" charset="-122"/>
                <a:cs typeface="Poppins" pitchFamily="34" charset="-120"/>
              </a:rPr>
              <a:t>IAM Policy</a:t>
            </a:r>
            <a:endParaRPr lang="en-US" sz="1500" dirty="0"/>
          </a:p>
        </p:txBody>
      </p:sp>
      <p:sp>
        <p:nvSpPr>
          <p:cNvPr id="13" name="Text 11"/>
          <p:cNvSpPr/>
          <p:nvPr/>
        </p:nvSpPr>
        <p:spPr>
          <a:xfrm>
            <a:off x="4480560" y="4114800"/>
            <a:ext cx="3200400" cy="1828800"/>
          </a:xfrm>
          <a:prstGeom prst="rect">
            <a:avLst/>
          </a:prstGeom>
          <a:noFill/>
          <a:ln/>
        </p:spPr>
        <p:txBody>
          <a:bodyPr wrap="square" rtlCol="0" anchor="ctr"/>
          <a:lstStyle/>
          <a:p>
            <a:pPr indent="0" marL="0">
              <a:lnSpc>
                <a:spcPct val="130000"/>
              </a:lnSpc>
              <a:buNone/>
            </a:pPr>
            <a:r>
              <a:rPr lang="en-US" sz="1150" dirty="0">
                <a:solidFill>
                  <a:srgbClr val="A9B0C6"/>
                </a:solidFill>
                <a:latin typeface="Poppins" pitchFamily="34" charset="0"/>
                <a:ea typeface="Poppins" pitchFamily="34" charset="-122"/>
                <a:cs typeface="Poppins" pitchFamily="34" charset="-120"/>
              </a:rPr>
              <a:t>A JSON document listing exactly which actions are allowed: PutObject, GetObject, DeleteObject, ListBucket.</a:t>
            </a:r>
            <a:endParaRPr lang="en-US" sz="1150" dirty="0"/>
          </a:p>
        </p:txBody>
      </p:sp>
      <p:sp>
        <p:nvSpPr>
          <p:cNvPr id="14" name="Shape 12"/>
          <p:cNvSpPr/>
          <p:nvPr/>
        </p:nvSpPr>
        <p:spPr>
          <a:xfrm>
            <a:off x="8046720" y="2834640"/>
            <a:ext cx="3611880" cy="3200400"/>
          </a:xfrm>
          <a:prstGeom prst="roundRect">
            <a:avLst>
              <a:gd name="adj" fmla="val 4571"/>
            </a:avLst>
          </a:prstGeom>
          <a:solidFill>
            <a:srgbClr val="161C2E"/>
          </a:solidFill>
          <a:ln w="12700">
            <a:solidFill>
              <a:srgbClr val="FFB454"/>
            </a:solidFill>
            <a:prstDash val="solid"/>
          </a:ln>
        </p:spPr>
      </p:sp>
      <p:sp>
        <p:nvSpPr>
          <p:cNvPr id="15" name="Text 13"/>
          <p:cNvSpPr/>
          <p:nvPr/>
        </p:nvSpPr>
        <p:spPr>
          <a:xfrm>
            <a:off x="8275320" y="3063240"/>
            <a:ext cx="548640" cy="548640"/>
          </a:xfrm>
          <a:prstGeom prst="rect">
            <a:avLst/>
          </a:prstGeom>
          <a:noFill/>
          <a:ln/>
        </p:spPr>
        <p:txBody>
          <a:bodyPr wrap="square" rtlCol="0" anchor="ctr"/>
          <a:lstStyle/>
          <a:p>
            <a:pPr indent="0" marL="0">
              <a:buNone/>
            </a:pPr>
            <a:r>
              <a:rPr lang="en-US" sz="2200" b="1" dirty="0">
                <a:solidFill>
                  <a:srgbClr val="FFB454"/>
                </a:solidFill>
                <a:latin typeface="Poppins" pitchFamily="34" charset="0"/>
                <a:ea typeface="Poppins" pitchFamily="34" charset="-122"/>
                <a:cs typeface="Poppins" pitchFamily="34" charset="-120"/>
              </a:rPr>
              <a:t>3</a:t>
            </a:r>
            <a:endParaRPr lang="en-US" sz="2200" dirty="0"/>
          </a:p>
        </p:txBody>
      </p:sp>
      <p:sp>
        <p:nvSpPr>
          <p:cNvPr id="16" name="Text 14"/>
          <p:cNvSpPr/>
          <p:nvPr/>
        </p:nvSpPr>
        <p:spPr>
          <a:xfrm>
            <a:off x="8275320" y="3657600"/>
            <a:ext cx="3200400" cy="457200"/>
          </a:xfrm>
          <a:prstGeom prst="rect">
            <a:avLst/>
          </a:prstGeom>
          <a:noFill/>
          <a:ln/>
        </p:spPr>
        <p:txBody>
          <a:bodyPr wrap="square" rtlCol="0" anchor="ctr"/>
          <a:lstStyle/>
          <a:p>
            <a:pPr indent="0" marL="0">
              <a:buNone/>
            </a:pPr>
            <a:r>
              <a:rPr lang="en-US" sz="1500" b="1" dirty="0">
                <a:solidFill>
                  <a:srgbClr val="F1F3FB"/>
                </a:solidFill>
                <a:latin typeface="Poppins" pitchFamily="34" charset="0"/>
                <a:ea typeface="Poppins" pitchFamily="34" charset="-122"/>
                <a:cs typeface="Poppins" pitchFamily="34" charset="-120"/>
              </a:rPr>
              <a:t>Least Privilege</a:t>
            </a:r>
            <a:endParaRPr lang="en-US" sz="1500" dirty="0"/>
          </a:p>
        </p:txBody>
      </p:sp>
      <p:sp>
        <p:nvSpPr>
          <p:cNvPr id="17" name="Text 15"/>
          <p:cNvSpPr/>
          <p:nvPr/>
        </p:nvSpPr>
        <p:spPr>
          <a:xfrm>
            <a:off x="8275320" y="4114800"/>
            <a:ext cx="3200400" cy="1828800"/>
          </a:xfrm>
          <a:prstGeom prst="rect">
            <a:avLst/>
          </a:prstGeom>
          <a:noFill/>
          <a:ln/>
        </p:spPr>
        <p:txBody>
          <a:bodyPr wrap="square" rtlCol="0" anchor="ctr"/>
          <a:lstStyle/>
          <a:p>
            <a:pPr indent="0" marL="0">
              <a:lnSpc>
                <a:spcPct val="130000"/>
              </a:lnSpc>
              <a:buNone/>
            </a:pPr>
            <a:r>
              <a:rPr lang="en-US" sz="1150" dirty="0">
                <a:solidFill>
                  <a:srgbClr val="A9B0C6"/>
                </a:solidFill>
                <a:latin typeface="Poppins" pitchFamily="34" charset="0"/>
                <a:ea typeface="Poppins" pitchFamily="34" charset="-122"/>
                <a:cs typeface="Poppins" pitchFamily="34" charset="-120"/>
              </a:rPr>
              <a:t>The policy grants only what's needed for this one bucket — nothing more, limiting damage if credentials leak.</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457200" y="411480"/>
            <a:ext cx="2377440" cy="384048"/>
          </a:xfrm>
          <a:prstGeom prst="roundRect">
            <a:avLst>
              <a:gd name="adj" fmla="val 50000"/>
            </a:avLst>
          </a:prstGeom>
          <a:solidFill>
            <a:srgbClr val="24D3EE">
              <a:alpha val="15000"/>
            </a:srgbClr>
          </a:solidFill>
          <a:ln w="12700">
            <a:solidFill>
              <a:srgbClr val="24D3EE"/>
            </a:solidFill>
            <a:prstDash val="solid"/>
          </a:ln>
        </p:spPr>
      </p:sp>
      <p:sp>
        <p:nvSpPr>
          <p:cNvPr id="3" name="Text 1"/>
          <p:cNvSpPr/>
          <p:nvPr/>
        </p:nvSpPr>
        <p:spPr>
          <a:xfrm>
            <a:off x="457200" y="411480"/>
            <a:ext cx="2377440" cy="384048"/>
          </a:xfrm>
          <a:prstGeom prst="rect">
            <a:avLst/>
          </a:prstGeom>
          <a:noFill/>
          <a:ln/>
        </p:spPr>
        <p:txBody>
          <a:bodyPr wrap="square" rtlCol="0" anchor="ctr"/>
          <a:lstStyle/>
          <a:p>
            <a:pPr algn="ctr" indent="0" marL="0">
              <a:buNone/>
            </a:pPr>
            <a:r>
              <a:rPr lang="en-US" sz="1100" b="1" spc="100" kern="0" dirty="0">
                <a:solidFill>
                  <a:srgbClr val="24D3EE"/>
                </a:solidFill>
                <a:latin typeface="Poppins" pitchFamily="34" charset="0"/>
                <a:ea typeface="Poppins" pitchFamily="34" charset="-122"/>
                <a:cs typeface="Poppins" pitchFamily="34" charset="-120"/>
              </a:rPr>
              <a:t>WORKFLOW</a:t>
            </a:r>
            <a:endParaRPr lang="en-US" sz="1100" dirty="0"/>
          </a:p>
        </p:txBody>
      </p:sp>
      <p:sp>
        <p:nvSpPr>
          <p:cNvPr id="4" name="Text 2"/>
          <p:cNvSpPr/>
          <p:nvPr/>
        </p:nvSpPr>
        <p:spPr>
          <a:xfrm>
            <a:off x="457200" y="914400"/>
            <a:ext cx="11247120" cy="822960"/>
          </a:xfrm>
          <a:prstGeom prst="rect">
            <a:avLst/>
          </a:prstGeom>
          <a:noFill/>
          <a:ln/>
        </p:spPr>
        <p:txBody>
          <a:bodyPr wrap="square" lIns="0" tIns="0" rIns="0" bIns="0" rtlCol="0" anchor="ctr"/>
          <a:lstStyle/>
          <a:p>
            <a:pPr indent="0" marL="0">
              <a:buNone/>
            </a:pPr>
            <a:r>
              <a:rPr lang="en-US" sz="3200" b="1" dirty="0">
                <a:solidFill>
                  <a:srgbClr val="F1F3FB"/>
                </a:solidFill>
                <a:latin typeface="Poppins" pitchFamily="34" charset="0"/>
                <a:ea typeface="Poppins" pitchFamily="34" charset="-122"/>
                <a:cs typeface="Poppins" pitchFamily="34" charset="-120"/>
              </a:rPr>
              <a:t>From upload to download, step by step</a:t>
            </a:r>
            <a:endParaRPr lang="en-US" sz="3200" dirty="0"/>
          </a:p>
        </p:txBody>
      </p:sp>
      <p:sp>
        <p:nvSpPr>
          <p:cNvPr id="5" name="Shape 3"/>
          <p:cNvSpPr/>
          <p:nvPr/>
        </p:nvSpPr>
        <p:spPr>
          <a:xfrm>
            <a:off x="1243584" y="2286000"/>
            <a:ext cx="640080" cy="640080"/>
          </a:xfrm>
          <a:prstGeom prst="ellipse">
            <a:avLst/>
          </a:prstGeom>
          <a:solidFill>
            <a:srgbClr val="6D5EFC"/>
          </a:solidFill>
          <a:ln/>
        </p:spPr>
      </p:sp>
      <p:sp>
        <p:nvSpPr>
          <p:cNvPr id="6" name="Text 4"/>
          <p:cNvSpPr/>
          <p:nvPr/>
        </p:nvSpPr>
        <p:spPr>
          <a:xfrm>
            <a:off x="1243584" y="2286000"/>
            <a:ext cx="640080" cy="640080"/>
          </a:xfrm>
          <a:prstGeom prst="rect">
            <a:avLst/>
          </a:prstGeom>
          <a:noFill/>
          <a:ln/>
        </p:spPr>
        <p:txBody>
          <a:bodyPr wrap="square" rtlCol="0" anchor="ctr"/>
          <a:lstStyle/>
          <a:p>
            <a:pPr algn="ctr" indent="0" marL="0">
              <a:buNone/>
            </a:pPr>
            <a:r>
              <a:rPr lang="en-US" sz="1800" b="1" dirty="0">
                <a:solidFill>
                  <a:srgbClr val="0B0F1A"/>
                </a:solidFill>
                <a:latin typeface="Poppins" pitchFamily="34" charset="0"/>
                <a:ea typeface="Poppins" pitchFamily="34" charset="-122"/>
                <a:cs typeface="Poppins" pitchFamily="34" charset="-120"/>
              </a:rPr>
              <a:t>1</a:t>
            </a:r>
            <a:endParaRPr lang="en-US" sz="1800" dirty="0"/>
          </a:p>
        </p:txBody>
      </p:sp>
      <p:sp>
        <p:nvSpPr>
          <p:cNvPr id="7" name="Shape 5"/>
          <p:cNvSpPr/>
          <p:nvPr/>
        </p:nvSpPr>
        <p:spPr>
          <a:xfrm>
            <a:off x="457200" y="3200400"/>
            <a:ext cx="2029968" cy="2011680"/>
          </a:xfrm>
          <a:prstGeom prst="roundRect">
            <a:avLst>
              <a:gd name="adj" fmla="val 6364"/>
            </a:avLst>
          </a:prstGeom>
          <a:solidFill>
            <a:srgbClr val="161C2E"/>
          </a:solidFill>
          <a:ln/>
        </p:spPr>
      </p:sp>
      <p:sp>
        <p:nvSpPr>
          <p:cNvPr id="8" name="Text 6"/>
          <p:cNvSpPr/>
          <p:nvPr/>
        </p:nvSpPr>
        <p:spPr>
          <a:xfrm>
            <a:off x="566928" y="3337560"/>
            <a:ext cx="1810512" cy="1737360"/>
          </a:xfrm>
          <a:prstGeom prst="rect">
            <a:avLst/>
          </a:prstGeom>
          <a:noFill/>
          <a:ln/>
        </p:spPr>
        <p:txBody>
          <a:bodyPr wrap="square" rtlCol="0" anchor="t"/>
          <a:lstStyle/>
          <a:p>
            <a:pPr algn="ctr" indent="0" marL="0">
              <a:buNone/>
            </a:pPr>
            <a:r>
              <a:rPr lang="en-US" sz="1200" dirty="0">
                <a:solidFill>
                  <a:srgbClr val="F1F3FB"/>
                </a:solidFill>
                <a:latin typeface="Poppins" pitchFamily="34" charset="0"/>
                <a:ea typeface="Poppins" pitchFamily="34" charset="-122"/>
                <a:cs typeface="Poppins" pitchFamily="34" charset="-120"/>
              </a:rPr>
              <a:t>User logs in</a:t>
            </a:r>
            <a:endParaRPr lang="en-US" sz="1200" dirty="0"/>
          </a:p>
        </p:txBody>
      </p:sp>
      <p:sp>
        <p:nvSpPr>
          <p:cNvPr id="9" name="Shape 7"/>
          <p:cNvSpPr/>
          <p:nvPr/>
        </p:nvSpPr>
        <p:spPr>
          <a:xfrm>
            <a:off x="2532888" y="2606040"/>
            <a:ext cx="274320" cy="0"/>
          </a:xfrm>
          <a:prstGeom prst="line">
            <a:avLst/>
          </a:prstGeom>
          <a:noFill/>
          <a:ln w="19050">
            <a:solidFill>
              <a:srgbClr val="6D7590"/>
            </a:solidFill>
            <a:prstDash val="dash"/>
          </a:ln>
        </p:spPr>
      </p:sp>
      <p:sp>
        <p:nvSpPr>
          <p:cNvPr id="10" name="Shape 8"/>
          <p:cNvSpPr/>
          <p:nvPr/>
        </p:nvSpPr>
        <p:spPr>
          <a:xfrm>
            <a:off x="3456432" y="2286000"/>
            <a:ext cx="640080" cy="640080"/>
          </a:xfrm>
          <a:prstGeom prst="ellipse">
            <a:avLst/>
          </a:prstGeom>
          <a:solidFill>
            <a:srgbClr val="24D3EE"/>
          </a:solidFill>
          <a:ln/>
        </p:spPr>
      </p:sp>
      <p:sp>
        <p:nvSpPr>
          <p:cNvPr id="11" name="Text 9"/>
          <p:cNvSpPr/>
          <p:nvPr/>
        </p:nvSpPr>
        <p:spPr>
          <a:xfrm>
            <a:off x="3456432" y="2286000"/>
            <a:ext cx="640080" cy="640080"/>
          </a:xfrm>
          <a:prstGeom prst="rect">
            <a:avLst/>
          </a:prstGeom>
          <a:noFill/>
          <a:ln/>
        </p:spPr>
        <p:txBody>
          <a:bodyPr wrap="square" rtlCol="0" anchor="ctr"/>
          <a:lstStyle/>
          <a:p>
            <a:pPr algn="ctr" indent="0" marL="0">
              <a:buNone/>
            </a:pPr>
            <a:r>
              <a:rPr lang="en-US" sz="1800" b="1" dirty="0">
                <a:solidFill>
                  <a:srgbClr val="0B0F1A"/>
                </a:solidFill>
                <a:latin typeface="Poppins" pitchFamily="34" charset="0"/>
                <a:ea typeface="Poppins" pitchFamily="34" charset="-122"/>
                <a:cs typeface="Poppins" pitchFamily="34" charset="-120"/>
              </a:rPr>
              <a:t>2</a:t>
            </a:r>
            <a:endParaRPr lang="en-US" sz="1800" dirty="0"/>
          </a:p>
        </p:txBody>
      </p:sp>
      <p:sp>
        <p:nvSpPr>
          <p:cNvPr id="12" name="Shape 10"/>
          <p:cNvSpPr/>
          <p:nvPr/>
        </p:nvSpPr>
        <p:spPr>
          <a:xfrm>
            <a:off x="2670048" y="3200400"/>
            <a:ext cx="2029968" cy="2011680"/>
          </a:xfrm>
          <a:prstGeom prst="roundRect">
            <a:avLst>
              <a:gd name="adj" fmla="val 6364"/>
            </a:avLst>
          </a:prstGeom>
          <a:solidFill>
            <a:srgbClr val="161C2E"/>
          </a:solidFill>
          <a:ln/>
        </p:spPr>
      </p:sp>
      <p:sp>
        <p:nvSpPr>
          <p:cNvPr id="13" name="Text 11"/>
          <p:cNvSpPr/>
          <p:nvPr/>
        </p:nvSpPr>
        <p:spPr>
          <a:xfrm>
            <a:off x="2779776" y="3337560"/>
            <a:ext cx="1810512" cy="1737360"/>
          </a:xfrm>
          <a:prstGeom prst="rect">
            <a:avLst/>
          </a:prstGeom>
          <a:noFill/>
          <a:ln/>
        </p:spPr>
        <p:txBody>
          <a:bodyPr wrap="square" rtlCol="0" anchor="t"/>
          <a:lstStyle/>
          <a:p>
            <a:pPr algn="ctr" indent="0" marL="0">
              <a:buNone/>
            </a:pPr>
            <a:r>
              <a:rPr lang="en-US" sz="1200" dirty="0">
                <a:solidFill>
                  <a:srgbClr val="F1F3FB"/>
                </a:solidFill>
                <a:latin typeface="Poppins" pitchFamily="34" charset="0"/>
                <a:ea typeface="Poppins" pitchFamily="34" charset="-122"/>
                <a:cs typeface="Poppins" pitchFamily="34" charset="-120"/>
              </a:rPr>
              <a:t>Selects a certificate file &amp; category</a:t>
            </a:r>
            <a:endParaRPr lang="en-US" sz="1200" dirty="0"/>
          </a:p>
        </p:txBody>
      </p:sp>
      <p:sp>
        <p:nvSpPr>
          <p:cNvPr id="14" name="Shape 12"/>
          <p:cNvSpPr/>
          <p:nvPr/>
        </p:nvSpPr>
        <p:spPr>
          <a:xfrm>
            <a:off x="4745736" y="2606040"/>
            <a:ext cx="274320" cy="0"/>
          </a:xfrm>
          <a:prstGeom prst="line">
            <a:avLst/>
          </a:prstGeom>
          <a:noFill/>
          <a:ln w="19050">
            <a:solidFill>
              <a:srgbClr val="6D7590"/>
            </a:solidFill>
            <a:prstDash val="dash"/>
          </a:ln>
        </p:spPr>
      </p:sp>
      <p:sp>
        <p:nvSpPr>
          <p:cNvPr id="15" name="Shape 13"/>
          <p:cNvSpPr/>
          <p:nvPr/>
        </p:nvSpPr>
        <p:spPr>
          <a:xfrm>
            <a:off x="5669280" y="2286000"/>
            <a:ext cx="640080" cy="640080"/>
          </a:xfrm>
          <a:prstGeom prst="ellipse">
            <a:avLst/>
          </a:prstGeom>
          <a:solidFill>
            <a:srgbClr val="FFB454"/>
          </a:solidFill>
          <a:ln/>
        </p:spPr>
      </p:sp>
      <p:sp>
        <p:nvSpPr>
          <p:cNvPr id="16" name="Text 14"/>
          <p:cNvSpPr/>
          <p:nvPr/>
        </p:nvSpPr>
        <p:spPr>
          <a:xfrm>
            <a:off x="5669280" y="2286000"/>
            <a:ext cx="640080" cy="640080"/>
          </a:xfrm>
          <a:prstGeom prst="rect">
            <a:avLst/>
          </a:prstGeom>
          <a:noFill/>
          <a:ln/>
        </p:spPr>
        <p:txBody>
          <a:bodyPr wrap="square" rtlCol="0" anchor="ctr"/>
          <a:lstStyle/>
          <a:p>
            <a:pPr algn="ctr" indent="0" marL="0">
              <a:buNone/>
            </a:pPr>
            <a:r>
              <a:rPr lang="en-US" sz="1800" b="1" dirty="0">
                <a:solidFill>
                  <a:srgbClr val="0B0F1A"/>
                </a:solidFill>
                <a:latin typeface="Poppins" pitchFamily="34" charset="0"/>
                <a:ea typeface="Poppins" pitchFamily="34" charset="-122"/>
                <a:cs typeface="Poppins" pitchFamily="34" charset="-120"/>
              </a:rPr>
              <a:t>3</a:t>
            </a:r>
            <a:endParaRPr lang="en-US" sz="1800" dirty="0"/>
          </a:p>
        </p:txBody>
      </p:sp>
      <p:sp>
        <p:nvSpPr>
          <p:cNvPr id="17" name="Shape 15"/>
          <p:cNvSpPr/>
          <p:nvPr/>
        </p:nvSpPr>
        <p:spPr>
          <a:xfrm>
            <a:off x="4882896" y="3200400"/>
            <a:ext cx="2029968" cy="2011680"/>
          </a:xfrm>
          <a:prstGeom prst="roundRect">
            <a:avLst>
              <a:gd name="adj" fmla="val 6364"/>
            </a:avLst>
          </a:prstGeom>
          <a:solidFill>
            <a:srgbClr val="161C2E"/>
          </a:solidFill>
          <a:ln/>
        </p:spPr>
      </p:sp>
      <p:sp>
        <p:nvSpPr>
          <p:cNvPr id="18" name="Text 16"/>
          <p:cNvSpPr/>
          <p:nvPr/>
        </p:nvSpPr>
        <p:spPr>
          <a:xfrm>
            <a:off x="4992624" y="3337560"/>
            <a:ext cx="1810512" cy="1737360"/>
          </a:xfrm>
          <a:prstGeom prst="rect">
            <a:avLst/>
          </a:prstGeom>
          <a:noFill/>
          <a:ln/>
        </p:spPr>
        <p:txBody>
          <a:bodyPr wrap="square" rtlCol="0" anchor="t"/>
          <a:lstStyle/>
          <a:p>
            <a:pPr algn="ctr" indent="0" marL="0">
              <a:buNone/>
            </a:pPr>
            <a:r>
              <a:rPr lang="en-US" sz="1200" dirty="0">
                <a:solidFill>
                  <a:srgbClr val="F1F3FB"/>
                </a:solidFill>
                <a:latin typeface="Poppins" pitchFamily="34" charset="0"/>
                <a:ea typeface="Poppins" pitchFamily="34" charset="-122"/>
                <a:cs typeface="Poppins" pitchFamily="34" charset="-120"/>
              </a:rPr>
              <a:t>App requests a signed S3 URL via IAM</a:t>
            </a:r>
            <a:endParaRPr lang="en-US" sz="1200" dirty="0"/>
          </a:p>
        </p:txBody>
      </p:sp>
      <p:sp>
        <p:nvSpPr>
          <p:cNvPr id="19" name="Shape 17"/>
          <p:cNvSpPr/>
          <p:nvPr/>
        </p:nvSpPr>
        <p:spPr>
          <a:xfrm>
            <a:off x="6958584" y="2606040"/>
            <a:ext cx="274320" cy="0"/>
          </a:xfrm>
          <a:prstGeom prst="line">
            <a:avLst/>
          </a:prstGeom>
          <a:noFill/>
          <a:ln w="19050">
            <a:solidFill>
              <a:srgbClr val="6D7590"/>
            </a:solidFill>
            <a:prstDash val="dash"/>
          </a:ln>
        </p:spPr>
      </p:sp>
      <p:sp>
        <p:nvSpPr>
          <p:cNvPr id="20" name="Shape 18"/>
          <p:cNvSpPr/>
          <p:nvPr/>
        </p:nvSpPr>
        <p:spPr>
          <a:xfrm>
            <a:off x="7882128" y="2286000"/>
            <a:ext cx="640080" cy="640080"/>
          </a:xfrm>
          <a:prstGeom prst="ellipse">
            <a:avLst/>
          </a:prstGeom>
          <a:solidFill>
            <a:srgbClr val="33E6A4"/>
          </a:solidFill>
          <a:ln/>
        </p:spPr>
      </p:sp>
      <p:sp>
        <p:nvSpPr>
          <p:cNvPr id="21" name="Text 19"/>
          <p:cNvSpPr/>
          <p:nvPr/>
        </p:nvSpPr>
        <p:spPr>
          <a:xfrm>
            <a:off x="7882128" y="2286000"/>
            <a:ext cx="640080" cy="640080"/>
          </a:xfrm>
          <a:prstGeom prst="rect">
            <a:avLst/>
          </a:prstGeom>
          <a:noFill/>
          <a:ln/>
        </p:spPr>
        <p:txBody>
          <a:bodyPr wrap="square" rtlCol="0" anchor="ctr"/>
          <a:lstStyle/>
          <a:p>
            <a:pPr algn="ctr" indent="0" marL="0">
              <a:buNone/>
            </a:pPr>
            <a:r>
              <a:rPr lang="en-US" sz="1800" b="1" dirty="0">
                <a:solidFill>
                  <a:srgbClr val="0B0F1A"/>
                </a:solidFill>
                <a:latin typeface="Poppins" pitchFamily="34" charset="0"/>
                <a:ea typeface="Poppins" pitchFamily="34" charset="-122"/>
                <a:cs typeface="Poppins" pitchFamily="34" charset="-120"/>
              </a:rPr>
              <a:t>4</a:t>
            </a:r>
            <a:endParaRPr lang="en-US" sz="1800" dirty="0"/>
          </a:p>
        </p:txBody>
      </p:sp>
      <p:sp>
        <p:nvSpPr>
          <p:cNvPr id="22" name="Shape 20"/>
          <p:cNvSpPr/>
          <p:nvPr/>
        </p:nvSpPr>
        <p:spPr>
          <a:xfrm>
            <a:off x="7095744" y="3200400"/>
            <a:ext cx="2029968" cy="2011680"/>
          </a:xfrm>
          <a:prstGeom prst="roundRect">
            <a:avLst>
              <a:gd name="adj" fmla="val 6364"/>
            </a:avLst>
          </a:prstGeom>
          <a:solidFill>
            <a:srgbClr val="161C2E"/>
          </a:solidFill>
          <a:ln/>
        </p:spPr>
      </p:sp>
      <p:sp>
        <p:nvSpPr>
          <p:cNvPr id="23" name="Text 21"/>
          <p:cNvSpPr/>
          <p:nvPr/>
        </p:nvSpPr>
        <p:spPr>
          <a:xfrm>
            <a:off x="7205472" y="3337560"/>
            <a:ext cx="1810512" cy="1737360"/>
          </a:xfrm>
          <a:prstGeom prst="rect">
            <a:avLst/>
          </a:prstGeom>
          <a:noFill/>
          <a:ln/>
        </p:spPr>
        <p:txBody>
          <a:bodyPr wrap="square" rtlCol="0" anchor="t"/>
          <a:lstStyle/>
          <a:p>
            <a:pPr algn="ctr" indent="0" marL="0">
              <a:buNone/>
            </a:pPr>
            <a:r>
              <a:rPr lang="en-US" sz="1200" dirty="0">
                <a:solidFill>
                  <a:srgbClr val="F1F3FB"/>
                </a:solidFill>
                <a:latin typeface="Poppins" pitchFamily="34" charset="0"/>
                <a:ea typeface="Poppins" pitchFamily="34" charset="-122"/>
                <a:cs typeface="Poppins" pitchFamily="34" charset="-120"/>
              </a:rPr>
              <a:t>File uploads directly to the private bucket</a:t>
            </a:r>
            <a:endParaRPr lang="en-US" sz="1200" dirty="0"/>
          </a:p>
        </p:txBody>
      </p:sp>
      <p:sp>
        <p:nvSpPr>
          <p:cNvPr id="24" name="Shape 22"/>
          <p:cNvSpPr/>
          <p:nvPr/>
        </p:nvSpPr>
        <p:spPr>
          <a:xfrm>
            <a:off x="9171432" y="2606040"/>
            <a:ext cx="274320" cy="0"/>
          </a:xfrm>
          <a:prstGeom prst="line">
            <a:avLst/>
          </a:prstGeom>
          <a:noFill/>
          <a:ln w="19050">
            <a:solidFill>
              <a:srgbClr val="6D7590"/>
            </a:solidFill>
            <a:prstDash val="dash"/>
          </a:ln>
        </p:spPr>
      </p:sp>
      <p:sp>
        <p:nvSpPr>
          <p:cNvPr id="25" name="Shape 23"/>
          <p:cNvSpPr/>
          <p:nvPr/>
        </p:nvSpPr>
        <p:spPr>
          <a:xfrm>
            <a:off x="10094976" y="2286000"/>
            <a:ext cx="640080" cy="640080"/>
          </a:xfrm>
          <a:prstGeom prst="ellipse">
            <a:avLst/>
          </a:prstGeom>
          <a:solidFill>
            <a:srgbClr val="8F7BFF"/>
          </a:solidFill>
          <a:ln/>
        </p:spPr>
      </p:sp>
      <p:sp>
        <p:nvSpPr>
          <p:cNvPr id="26" name="Text 24"/>
          <p:cNvSpPr/>
          <p:nvPr/>
        </p:nvSpPr>
        <p:spPr>
          <a:xfrm>
            <a:off x="10094976" y="2286000"/>
            <a:ext cx="640080" cy="640080"/>
          </a:xfrm>
          <a:prstGeom prst="rect">
            <a:avLst/>
          </a:prstGeom>
          <a:noFill/>
          <a:ln/>
        </p:spPr>
        <p:txBody>
          <a:bodyPr wrap="square" rtlCol="0" anchor="ctr"/>
          <a:lstStyle/>
          <a:p>
            <a:pPr algn="ctr" indent="0" marL="0">
              <a:buNone/>
            </a:pPr>
            <a:r>
              <a:rPr lang="en-US" sz="1800" b="1" dirty="0">
                <a:solidFill>
                  <a:srgbClr val="0B0F1A"/>
                </a:solidFill>
                <a:latin typeface="Poppins" pitchFamily="34" charset="0"/>
                <a:ea typeface="Poppins" pitchFamily="34" charset="-122"/>
                <a:cs typeface="Poppins" pitchFamily="34" charset="-120"/>
              </a:rPr>
              <a:t>5</a:t>
            </a:r>
            <a:endParaRPr lang="en-US" sz="1800" dirty="0"/>
          </a:p>
        </p:txBody>
      </p:sp>
      <p:sp>
        <p:nvSpPr>
          <p:cNvPr id="27" name="Shape 25"/>
          <p:cNvSpPr/>
          <p:nvPr/>
        </p:nvSpPr>
        <p:spPr>
          <a:xfrm>
            <a:off x="9308592" y="3200400"/>
            <a:ext cx="2029968" cy="2011680"/>
          </a:xfrm>
          <a:prstGeom prst="roundRect">
            <a:avLst>
              <a:gd name="adj" fmla="val 6364"/>
            </a:avLst>
          </a:prstGeom>
          <a:solidFill>
            <a:srgbClr val="161C2E"/>
          </a:solidFill>
          <a:ln/>
        </p:spPr>
      </p:sp>
      <p:sp>
        <p:nvSpPr>
          <p:cNvPr id="28" name="Text 26"/>
          <p:cNvSpPr/>
          <p:nvPr/>
        </p:nvSpPr>
        <p:spPr>
          <a:xfrm>
            <a:off x="9418320" y="3337560"/>
            <a:ext cx="1810512" cy="1737360"/>
          </a:xfrm>
          <a:prstGeom prst="rect">
            <a:avLst/>
          </a:prstGeom>
          <a:noFill/>
          <a:ln/>
        </p:spPr>
        <p:txBody>
          <a:bodyPr wrap="square" rtlCol="0" anchor="t"/>
          <a:lstStyle/>
          <a:p>
            <a:pPr algn="ctr" indent="0" marL="0">
              <a:buNone/>
            </a:pPr>
            <a:r>
              <a:rPr lang="en-US" sz="1200" dirty="0">
                <a:solidFill>
                  <a:srgbClr val="F1F3FB"/>
                </a:solidFill>
                <a:latin typeface="Poppins" pitchFamily="34" charset="0"/>
                <a:ea typeface="Poppins" pitchFamily="34" charset="-122"/>
                <a:cs typeface="Poppins" pitchFamily="34" charset="-120"/>
              </a:rPr>
              <a:t>Certificate appears in dashboard &amp; gallery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457200" y="411480"/>
            <a:ext cx="2377440" cy="384048"/>
          </a:xfrm>
          <a:prstGeom prst="roundRect">
            <a:avLst>
              <a:gd name="adj" fmla="val 50000"/>
            </a:avLst>
          </a:prstGeom>
          <a:solidFill>
            <a:srgbClr val="33E6A4">
              <a:alpha val="15000"/>
            </a:srgbClr>
          </a:solidFill>
          <a:ln w="12700">
            <a:solidFill>
              <a:srgbClr val="33E6A4"/>
            </a:solidFill>
            <a:prstDash val="solid"/>
          </a:ln>
        </p:spPr>
      </p:sp>
      <p:sp>
        <p:nvSpPr>
          <p:cNvPr id="3" name="Text 1"/>
          <p:cNvSpPr/>
          <p:nvPr/>
        </p:nvSpPr>
        <p:spPr>
          <a:xfrm>
            <a:off x="457200" y="411480"/>
            <a:ext cx="2377440" cy="384048"/>
          </a:xfrm>
          <a:prstGeom prst="rect">
            <a:avLst/>
          </a:prstGeom>
          <a:noFill/>
          <a:ln/>
        </p:spPr>
        <p:txBody>
          <a:bodyPr wrap="square" rtlCol="0" anchor="ctr"/>
          <a:lstStyle/>
          <a:p>
            <a:pPr algn="ctr" indent="0" marL="0">
              <a:buNone/>
            </a:pPr>
            <a:r>
              <a:rPr lang="en-US" sz="1100" b="1" spc="100" kern="0" dirty="0">
                <a:solidFill>
                  <a:srgbClr val="33E6A4"/>
                </a:solidFill>
                <a:latin typeface="Poppins" pitchFamily="34" charset="0"/>
                <a:ea typeface="Poppins" pitchFamily="34" charset="-122"/>
                <a:cs typeface="Poppins" pitchFamily="34" charset="-120"/>
              </a:rPr>
              <a:t>FEATURES</a:t>
            </a:r>
            <a:endParaRPr lang="en-US" sz="1100" dirty="0"/>
          </a:p>
        </p:txBody>
      </p:sp>
      <p:sp>
        <p:nvSpPr>
          <p:cNvPr id="4" name="Text 2"/>
          <p:cNvSpPr/>
          <p:nvPr/>
        </p:nvSpPr>
        <p:spPr>
          <a:xfrm>
            <a:off x="457200" y="914400"/>
            <a:ext cx="11247120" cy="822960"/>
          </a:xfrm>
          <a:prstGeom prst="rect">
            <a:avLst/>
          </a:prstGeom>
          <a:noFill/>
          <a:ln/>
        </p:spPr>
        <p:txBody>
          <a:bodyPr wrap="square" lIns="0" tIns="0" rIns="0" bIns="0" rtlCol="0" anchor="ctr"/>
          <a:lstStyle/>
          <a:p>
            <a:pPr indent="0" marL="0">
              <a:buNone/>
            </a:pPr>
            <a:r>
              <a:rPr lang="en-US" sz="3200" b="1" dirty="0">
                <a:solidFill>
                  <a:srgbClr val="F1F3FB"/>
                </a:solidFill>
                <a:latin typeface="Poppins" pitchFamily="34" charset="0"/>
                <a:ea typeface="Poppins" pitchFamily="34" charset="-122"/>
                <a:cs typeface="Poppins" pitchFamily="34" charset="-120"/>
              </a:rPr>
              <a:t>What CertiVault can do</a:t>
            </a:r>
            <a:endParaRPr lang="en-US" sz="3200" dirty="0"/>
          </a:p>
        </p:txBody>
      </p:sp>
      <p:sp>
        <p:nvSpPr>
          <p:cNvPr id="5" name="Shape 3"/>
          <p:cNvSpPr/>
          <p:nvPr/>
        </p:nvSpPr>
        <p:spPr>
          <a:xfrm>
            <a:off x="457200" y="1965960"/>
            <a:ext cx="2606040" cy="1874520"/>
          </a:xfrm>
          <a:prstGeom prst="roundRect">
            <a:avLst>
              <a:gd name="adj" fmla="val 7805"/>
            </a:avLst>
          </a:prstGeom>
          <a:solidFill>
            <a:srgbClr val="161C2E"/>
          </a:solidFill>
          <a:ln w="6350">
            <a:solidFill>
              <a:srgbClr val="6D7590"/>
            </a:solidFill>
            <a:prstDash val="solid"/>
          </a:ln>
        </p:spPr>
      </p:sp>
      <p:sp>
        <p:nvSpPr>
          <p:cNvPr id="6" name="Text 4"/>
          <p:cNvSpPr/>
          <p:nvPr/>
        </p:nvSpPr>
        <p:spPr>
          <a:xfrm>
            <a:off x="457200" y="2194560"/>
            <a:ext cx="2606040" cy="82296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7" name="Text 5"/>
          <p:cNvSpPr/>
          <p:nvPr/>
        </p:nvSpPr>
        <p:spPr>
          <a:xfrm>
            <a:off x="457200" y="3108960"/>
            <a:ext cx="2606040" cy="548640"/>
          </a:xfrm>
          <a:prstGeom prst="rect">
            <a:avLst/>
          </a:prstGeom>
          <a:noFill/>
          <a:ln/>
        </p:spPr>
        <p:txBody>
          <a:bodyPr wrap="square" rtlCol="0" anchor="ctr"/>
          <a:lstStyle/>
          <a:p>
            <a:pPr algn="ctr" indent="0" marL="0">
              <a:buNone/>
            </a:pPr>
            <a:r>
              <a:rPr lang="en-US" sz="1300" b="1" dirty="0">
                <a:solidFill>
                  <a:srgbClr val="F1F3FB"/>
                </a:solidFill>
                <a:latin typeface="Poppins" pitchFamily="34" charset="0"/>
                <a:ea typeface="Poppins" pitchFamily="34" charset="-122"/>
                <a:cs typeface="Poppins" pitchFamily="34" charset="-120"/>
              </a:rPr>
              <a:t>Upload</a:t>
            </a:r>
            <a:endParaRPr lang="en-US" sz="1300" dirty="0"/>
          </a:p>
        </p:txBody>
      </p:sp>
      <p:sp>
        <p:nvSpPr>
          <p:cNvPr id="8" name="Shape 6"/>
          <p:cNvSpPr/>
          <p:nvPr/>
        </p:nvSpPr>
        <p:spPr>
          <a:xfrm>
            <a:off x="3291840" y="1965960"/>
            <a:ext cx="2606040" cy="1874520"/>
          </a:xfrm>
          <a:prstGeom prst="roundRect">
            <a:avLst>
              <a:gd name="adj" fmla="val 7805"/>
            </a:avLst>
          </a:prstGeom>
          <a:solidFill>
            <a:srgbClr val="161C2E"/>
          </a:solidFill>
          <a:ln w="6350">
            <a:solidFill>
              <a:srgbClr val="6D7590"/>
            </a:solidFill>
            <a:prstDash val="solid"/>
          </a:ln>
        </p:spPr>
      </p:sp>
      <p:sp>
        <p:nvSpPr>
          <p:cNvPr id="9" name="Text 7"/>
          <p:cNvSpPr/>
          <p:nvPr/>
        </p:nvSpPr>
        <p:spPr>
          <a:xfrm>
            <a:off x="3291840" y="2194560"/>
            <a:ext cx="2606040" cy="82296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10" name="Text 8"/>
          <p:cNvSpPr/>
          <p:nvPr/>
        </p:nvSpPr>
        <p:spPr>
          <a:xfrm>
            <a:off x="3291840" y="3108960"/>
            <a:ext cx="2606040" cy="548640"/>
          </a:xfrm>
          <a:prstGeom prst="rect">
            <a:avLst/>
          </a:prstGeom>
          <a:noFill/>
          <a:ln/>
        </p:spPr>
        <p:txBody>
          <a:bodyPr wrap="square" rtlCol="0" anchor="ctr"/>
          <a:lstStyle/>
          <a:p>
            <a:pPr algn="ctr" indent="0" marL="0">
              <a:buNone/>
            </a:pPr>
            <a:r>
              <a:rPr lang="en-US" sz="1300" b="1" dirty="0">
                <a:solidFill>
                  <a:srgbClr val="F1F3FB"/>
                </a:solidFill>
                <a:latin typeface="Poppins" pitchFamily="34" charset="0"/>
                <a:ea typeface="Poppins" pitchFamily="34" charset="-122"/>
                <a:cs typeface="Poppins" pitchFamily="34" charset="-120"/>
              </a:rPr>
              <a:t>View / Preview</a:t>
            </a:r>
            <a:endParaRPr lang="en-US" sz="1300" dirty="0"/>
          </a:p>
        </p:txBody>
      </p:sp>
      <p:sp>
        <p:nvSpPr>
          <p:cNvPr id="11" name="Shape 9"/>
          <p:cNvSpPr/>
          <p:nvPr/>
        </p:nvSpPr>
        <p:spPr>
          <a:xfrm>
            <a:off x="6126480" y="1965960"/>
            <a:ext cx="2606040" cy="1874520"/>
          </a:xfrm>
          <a:prstGeom prst="roundRect">
            <a:avLst>
              <a:gd name="adj" fmla="val 7805"/>
            </a:avLst>
          </a:prstGeom>
          <a:solidFill>
            <a:srgbClr val="161C2E"/>
          </a:solidFill>
          <a:ln w="6350">
            <a:solidFill>
              <a:srgbClr val="6D7590"/>
            </a:solidFill>
            <a:prstDash val="solid"/>
          </a:ln>
        </p:spPr>
      </p:sp>
      <p:sp>
        <p:nvSpPr>
          <p:cNvPr id="12" name="Text 10"/>
          <p:cNvSpPr/>
          <p:nvPr/>
        </p:nvSpPr>
        <p:spPr>
          <a:xfrm>
            <a:off x="6126480" y="2194560"/>
            <a:ext cx="2606040" cy="82296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13" name="Text 11"/>
          <p:cNvSpPr/>
          <p:nvPr/>
        </p:nvSpPr>
        <p:spPr>
          <a:xfrm>
            <a:off x="6126480" y="3108960"/>
            <a:ext cx="2606040" cy="548640"/>
          </a:xfrm>
          <a:prstGeom prst="rect">
            <a:avLst/>
          </a:prstGeom>
          <a:noFill/>
          <a:ln/>
        </p:spPr>
        <p:txBody>
          <a:bodyPr wrap="square" rtlCol="0" anchor="ctr"/>
          <a:lstStyle/>
          <a:p>
            <a:pPr algn="ctr" indent="0" marL="0">
              <a:buNone/>
            </a:pPr>
            <a:r>
              <a:rPr lang="en-US" sz="1300" b="1" dirty="0">
                <a:solidFill>
                  <a:srgbClr val="F1F3FB"/>
                </a:solidFill>
                <a:latin typeface="Poppins" pitchFamily="34" charset="0"/>
                <a:ea typeface="Poppins" pitchFamily="34" charset="-122"/>
                <a:cs typeface="Poppins" pitchFamily="34" charset="-120"/>
              </a:rPr>
              <a:t>Search</a:t>
            </a:r>
            <a:endParaRPr lang="en-US" sz="1300" dirty="0"/>
          </a:p>
        </p:txBody>
      </p:sp>
      <p:sp>
        <p:nvSpPr>
          <p:cNvPr id="14" name="Shape 12"/>
          <p:cNvSpPr/>
          <p:nvPr/>
        </p:nvSpPr>
        <p:spPr>
          <a:xfrm>
            <a:off x="8961120" y="1965960"/>
            <a:ext cx="2606040" cy="1874520"/>
          </a:xfrm>
          <a:prstGeom prst="roundRect">
            <a:avLst>
              <a:gd name="adj" fmla="val 7805"/>
            </a:avLst>
          </a:prstGeom>
          <a:solidFill>
            <a:srgbClr val="161C2E"/>
          </a:solidFill>
          <a:ln w="6350">
            <a:solidFill>
              <a:srgbClr val="6D7590"/>
            </a:solidFill>
            <a:prstDash val="solid"/>
          </a:ln>
        </p:spPr>
      </p:sp>
      <p:sp>
        <p:nvSpPr>
          <p:cNvPr id="15" name="Text 13"/>
          <p:cNvSpPr/>
          <p:nvPr/>
        </p:nvSpPr>
        <p:spPr>
          <a:xfrm>
            <a:off x="8961120" y="2194560"/>
            <a:ext cx="2606040" cy="82296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16" name="Text 14"/>
          <p:cNvSpPr/>
          <p:nvPr/>
        </p:nvSpPr>
        <p:spPr>
          <a:xfrm>
            <a:off x="8961120" y="3108960"/>
            <a:ext cx="2606040" cy="548640"/>
          </a:xfrm>
          <a:prstGeom prst="rect">
            <a:avLst/>
          </a:prstGeom>
          <a:noFill/>
          <a:ln/>
        </p:spPr>
        <p:txBody>
          <a:bodyPr wrap="square" rtlCol="0" anchor="ctr"/>
          <a:lstStyle/>
          <a:p>
            <a:pPr algn="ctr" indent="0" marL="0">
              <a:buNone/>
            </a:pPr>
            <a:r>
              <a:rPr lang="en-US" sz="1300" b="1" dirty="0">
                <a:solidFill>
                  <a:srgbClr val="F1F3FB"/>
                </a:solidFill>
                <a:latin typeface="Poppins" pitchFamily="34" charset="0"/>
                <a:ea typeface="Poppins" pitchFamily="34" charset="-122"/>
                <a:cs typeface="Poppins" pitchFamily="34" charset="-120"/>
              </a:rPr>
              <a:t>Filter by Category</a:t>
            </a:r>
            <a:endParaRPr lang="en-US" sz="1300" dirty="0"/>
          </a:p>
        </p:txBody>
      </p:sp>
      <p:sp>
        <p:nvSpPr>
          <p:cNvPr id="17" name="Shape 15"/>
          <p:cNvSpPr/>
          <p:nvPr/>
        </p:nvSpPr>
        <p:spPr>
          <a:xfrm>
            <a:off x="457200" y="4069080"/>
            <a:ext cx="2606040" cy="1874520"/>
          </a:xfrm>
          <a:prstGeom prst="roundRect">
            <a:avLst>
              <a:gd name="adj" fmla="val 7805"/>
            </a:avLst>
          </a:prstGeom>
          <a:solidFill>
            <a:srgbClr val="161C2E"/>
          </a:solidFill>
          <a:ln w="6350">
            <a:solidFill>
              <a:srgbClr val="6D7590"/>
            </a:solidFill>
            <a:prstDash val="solid"/>
          </a:ln>
        </p:spPr>
      </p:sp>
      <p:sp>
        <p:nvSpPr>
          <p:cNvPr id="18" name="Text 16"/>
          <p:cNvSpPr/>
          <p:nvPr/>
        </p:nvSpPr>
        <p:spPr>
          <a:xfrm>
            <a:off x="457200" y="4297680"/>
            <a:ext cx="2606040" cy="82296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19" name="Text 17"/>
          <p:cNvSpPr/>
          <p:nvPr/>
        </p:nvSpPr>
        <p:spPr>
          <a:xfrm>
            <a:off x="457200" y="5212080"/>
            <a:ext cx="2606040" cy="548640"/>
          </a:xfrm>
          <a:prstGeom prst="rect">
            <a:avLst/>
          </a:prstGeom>
          <a:noFill/>
          <a:ln/>
        </p:spPr>
        <p:txBody>
          <a:bodyPr wrap="square" rtlCol="0" anchor="ctr"/>
          <a:lstStyle/>
          <a:p>
            <a:pPr algn="ctr" indent="0" marL="0">
              <a:buNone/>
            </a:pPr>
            <a:r>
              <a:rPr lang="en-US" sz="1300" b="1" dirty="0">
                <a:solidFill>
                  <a:srgbClr val="F1F3FB"/>
                </a:solidFill>
                <a:latin typeface="Poppins" pitchFamily="34" charset="0"/>
                <a:ea typeface="Poppins" pitchFamily="34" charset="-122"/>
                <a:cs typeface="Poppins" pitchFamily="34" charset="-120"/>
              </a:rPr>
              <a:t>Download</a:t>
            </a:r>
            <a:endParaRPr lang="en-US" sz="1300" dirty="0"/>
          </a:p>
        </p:txBody>
      </p:sp>
      <p:sp>
        <p:nvSpPr>
          <p:cNvPr id="20" name="Shape 18"/>
          <p:cNvSpPr/>
          <p:nvPr/>
        </p:nvSpPr>
        <p:spPr>
          <a:xfrm>
            <a:off x="3291840" y="4069080"/>
            <a:ext cx="2606040" cy="1874520"/>
          </a:xfrm>
          <a:prstGeom prst="roundRect">
            <a:avLst>
              <a:gd name="adj" fmla="val 7805"/>
            </a:avLst>
          </a:prstGeom>
          <a:solidFill>
            <a:srgbClr val="161C2E"/>
          </a:solidFill>
          <a:ln w="6350">
            <a:solidFill>
              <a:srgbClr val="6D7590"/>
            </a:solidFill>
            <a:prstDash val="solid"/>
          </a:ln>
        </p:spPr>
      </p:sp>
      <p:sp>
        <p:nvSpPr>
          <p:cNvPr id="21" name="Text 19"/>
          <p:cNvSpPr/>
          <p:nvPr/>
        </p:nvSpPr>
        <p:spPr>
          <a:xfrm>
            <a:off x="3291840" y="4297680"/>
            <a:ext cx="2606040" cy="82296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22" name="Text 20"/>
          <p:cNvSpPr/>
          <p:nvPr/>
        </p:nvSpPr>
        <p:spPr>
          <a:xfrm>
            <a:off x="3291840" y="5212080"/>
            <a:ext cx="2606040" cy="548640"/>
          </a:xfrm>
          <a:prstGeom prst="rect">
            <a:avLst/>
          </a:prstGeom>
          <a:noFill/>
          <a:ln/>
        </p:spPr>
        <p:txBody>
          <a:bodyPr wrap="square" rtlCol="0" anchor="ctr"/>
          <a:lstStyle/>
          <a:p>
            <a:pPr algn="ctr" indent="0" marL="0">
              <a:buNone/>
            </a:pPr>
            <a:r>
              <a:rPr lang="en-US" sz="1300" b="1" dirty="0">
                <a:solidFill>
                  <a:srgbClr val="F1F3FB"/>
                </a:solidFill>
                <a:latin typeface="Poppins" pitchFamily="34" charset="0"/>
                <a:ea typeface="Poppins" pitchFamily="34" charset="-122"/>
                <a:cs typeface="Poppins" pitchFamily="34" charset="-120"/>
              </a:rPr>
              <a:t>Delete</a:t>
            </a:r>
            <a:endParaRPr lang="en-US" sz="1300" dirty="0"/>
          </a:p>
        </p:txBody>
      </p:sp>
      <p:sp>
        <p:nvSpPr>
          <p:cNvPr id="23" name="Shape 21"/>
          <p:cNvSpPr/>
          <p:nvPr/>
        </p:nvSpPr>
        <p:spPr>
          <a:xfrm>
            <a:off x="6126480" y="4069080"/>
            <a:ext cx="2606040" cy="1874520"/>
          </a:xfrm>
          <a:prstGeom prst="roundRect">
            <a:avLst>
              <a:gd name="adj" fmla="val 7805"/>
            </a:avLst>
          </a:prstGeom>
          <a:solidFill>
            <a:srgbClr val="161C2E"/>
          </a:solidFill>
          <a:ln w="6350">
            <a:solidFill>
              <a:srgbClr val="6D7590"/>
            </a:solidFill>
            <a:prstDash val="solid"/>
          </a:ln>
        </p:spPr>
      </p:sp>
      <p:sp>
        <p:nvSpPr>
          <p:cNvPr id="24" name="Text 22"/>
          <p:cNvSpPr/>
          <p:nvPr/>
        </p:nvSpPr>
        <p:spPr>
          <a:xfrm>
            <a:off x="6126480" y="4297680"/>
            <a:ext cx="2606040" cy="82296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25" name="Text 23"/>
          <p:cNvSpPr/>
          <p:nvPr/>
        </p:nvSpPr>
        <p:spPr>
          <a:xfrm>
            <a:off x="6126480" y="5212080"/>
            <a:ext cx="2606040" cy="548640"/>
          </a:xfrm>
          <a:prstGeom prst="rect">
            <a:avLst/>
          </a:prstGeom>
          <a:noFill/>
          <a:ln/>
        </p:spPr>
        <p:txBody>
          <a:bodyPr wrap="square" rtlCol="0" anchor="ctr"/>
          <a:lstStyle/>
          <a:p>
            <a:pPr algn="ctr" indent="0" marL="0">
              <a:buNone/>
            </a:pPr>
            <a:r>
              <a:rPr lang="en-US" sz="1300" b="1" dirty="0">
                <a:solidFill>
                  <a:srgbClr val="F1F3FB"/>
                </a:solidFill>
                <a:latin typeface="Poppins" pitchFamily="34" charset="0"/>
                <a:ea typeface="Poppins" pitchFamily="34" charset="-122"/>
                <a:cs typeface="Poppins" pitchFamily="34" charset="-120"/>
              </a:rPr>
              <a:t>Dashboard Stats</a:t>
            </a:r>
            <a:endParaRPr lang="en-US" sz="1300" dirty="0"/>
          </a:p>
        </p:txBody>
      </p:sp>
      <p:sp>
        <p:nvSpPr>
          <p:cNvPr id="26" name="Shape 24"/>
          <p:cNvSpPr/>
          <p:nvPr/>
        </p:nvSpPr>
        <p:spPr>
          <a:xfrm>
            <a:off x="8961120" y="4069080"/>
            <a:ext cx="2606040" cy="1874520"/>
          </a:xfrm>
          <a:prstGeom prst="roundRect">
            <a:avLst>
              <a:gd name="adj" fmla="val 7805"/>
            </a:avLst>
          </a:prstGeom>
          <a:solidFill>
            <a:srgbClr val="161C2E"/>
          </a:solidFill>
          <a:ln w="6350">
            <a:solidFill>
              <a:srgbClr val="6D7590"/>
            </a:solidFill>
            <a:prstDash val="solid"/>
          </a:ln>
        </p:spPr>
      </p:sp>
      <p:sp>
        <p:nvSpPr>
          <p:cNvPr id="27" name="Text 25"/>
          <p:cNvSpPr/>
          <p:nvPr/>
        </p:nvSpPr>
        <p:spPr>
          <a:xfrm>
            <a:off x="8961120" y="4297680"/>
            <a:ext cx="2606040" cy="82296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28" name="Text 26"/>
          <p:cNvSpPr/>
          <p:nvPr/>
        </p:nvSpPr>
        <p:spPr>
          <a:xfrm>
            <a:off x="8961120" y="5212080"/>
            <a:ext cx="2606040" cy="548640"/>
          </a:xfrm>
          <a:prstGeom prst="rect">
            <a:avLst/>
          </a:prstGeom>
          <a:noFill/>
          <a:ln/>
        </p:spPr>
        <p:txBody>
          <a:bodyPr wrap="square" rtlCol="0" anchor="ctr"/>
          <a:lstStyle/>
          <a:p>
            <a:pPr algn="ctr" indent="0" marL="0">
              <a:buNone/>
            </a:pPr>
            <a:r>
              <a:rPr lang="en-US" sz="1300" b="1" dirty="0">
                <a:solidFill>
                  <a:srgbClr val="F1F3FB"/>
                </a:solidFill>
                <a:latin typeface="Poppins" pitchFamily="34" charset="0"/>
                <a:ea typeface="Poppins" pitchFamily="34" charset="-122"/>
                <a:cs typeface="Poppins" pitchFamily="34" charset="-120"/>
              </a:rPr>
              <a:t>IAM Security Model</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457200" y="411480"/>
            <a:ext cx="2377440" cy="384048"/>
          </a:xfrm>
          <a:prstGeom prst="roundRect">
            <a:avLst>
              <a:gd name="adj" fmla="val 50000"/>
            </a:avLst>
          </a:prstGeom>
          <a:solidFill>
            <a:srgbClr val="FFB454">
              <a:alpha val="15000"/>
            </a:srgbClr>
          </a:solidFill>
          <a:ln w="12700">
            <a:solidFill>
              <a:srgbClr val="FFB454"/>
            </a:solidFill>
            <a:prstDash val="solid"/>
          </a:ln>
        </p:spPr>
      </p:sp>
      <p:sp>
        <p:nvSpPr>
          <p:cNvPr id="3" name="Text 1"/>
          <p:cNvSpPr/>
          <p:nvPr/>
        </p:nvSpPr>
        <p:spPr>
          <a:xfrm>
            <a:off x="457200" y="411480"/>
            <a:ext cx="2377440" cy="384048"/>
          </a:xfrm>
          <a:prstGeom prst="rect">
            <a:avLst/>
          </a:prstGeom>
          <a:noFill/>
          <a:ln/>
        </p:spPr>
        <p:txBody>
          <a:bodyPr wrap="square" rtlCol="0" anchor="ctr"/>
          <a:lstStyle/>
          <a:p>
            <a:pPr algn="ctr" indent="0" marL="0">
              <a:buNone/>
            </a:pPr>
            <a:r>
              <a:rPr lang="en-US" sz="1100" b="1" spc="100" kern="0" dirty="0">
                <a:solidFill>
                  <a:srgbClr val="FFB454"/>
                </a:solidFill>
                <a:latin typeface="Poppins" pitchFamily="34" charset="0"/>
                <a:ea typeface="Poppins" pitchFamily="34" charset="-122"/>
                <a:cs typeface="Poppins" pitchFamily="34" charset="-120"/>
              </a:rPr>
              <a:t>LIVE DEMO</a:t>
            </a:r>
            <a:endParaRPr lang="en-US" sz="1100" dirty="0"/>
          </a:p>
        </p:txBody>
      </p:sp>
      <p:sp>
        <p:nvSpPr>
          <p:cNvPr id="4" name="Text 2"/>
          <p:cNvSpPr/>
          <p:nvPr/>
        </p:nvSpPr>
        <p:spPr>
          <a:xfrm>
            <a:off x="457200" y="914400"/>
            <a:ext cx="11247120" cy="822960"/>
          </a:xfrm>
          <a:prstGeom prst="rect">
            <a:avLst/>
          </a:prstGeom>
          <a:noFill/>
          <a:ln/>
        </p:spPr>
        <p:txBody>
          <a:bodyPr wrap="square" lIns="0" tIns="0" rIns="0" bIns="0" rtlCol="0" anchor="ctr"/>
          <a:lstStyle/>
          <a:p>
            <a:pPr indent="0" marL="0">
              <a:buNone/>
            </a:pPr>
            <a:r>
              <a:rPr lang="en-US" sz="3200" b="1" dirty="0">
                <a:solidFill>
                  <a:srgbClr val="F1F3FB"/>
                </a:solidFill>
                <a:latin typeface="Poppins" pitchFamily="34" charset="0"/>
                <a:ea typeface="Poppins" pitchFamily="34" charset="-122"/>
                <a:cs typeface="Poppins" pitchFamily="34" charset="-120"/>
              </a:rPr>
              <a:t>Let's walk through the app</a:t>
            </a:r>
            <a:endParaRPr lang="en-US" sz="3200" dirty="0"/>
          </a:p>
        </p:txBody>
      </p:sp>
      <p:sp>
        <p:nvSpPr>
          <p:cNvPr id="5" name="Shape 3"/>
          <p:cNvSpPr/>
          <p:nvPr/>
        </p:nvSpPr>
        <p:spPr>
          <a:xfrm>
            <a:off x="457200" y="1965960"/>
            <a:ext cx="11247120" cy="658368"/>
          </a:xfrm>
          <a:prstGeom prst="roundRect">
            <a:avLst>
              <a:gd name="adj" fmla="val 16667"/>
            </a:avLst>
          </a:prstGeom>
          <a:solidFill>
            <a:srgbClr val="161C2E"/>
          </a:solidFill>
          <a:ln/>
        </p:spPr>
      </p:sp>
      <p:sp>
        <p:nvSpPr>
          <p:cNvPr id="6" name="Text 4"/>
          <p:cNvSpPr/>
          <p:nvPr/>
        </p:nvSpPr>
        <p:spPr>
          <a:xfrm>
            <a:off x="640080" y="2039112"/>
            <a:ext cx="457200" cy="512064"/>
          </a:xfrm>
          <a:prstGeom prst="rect">
            <a:avLst/>
          </a:prstGeom>
          <a:noFill/>
          <a:ln/>
        </p:spPr>
        <p:txBody>
          <a:bodyPr wrap="square" rtlCol="0" anchor="ctr"/>
          <a:lstStyle/>
          <a:p>
            <a:pPr algn="ctr" indent="0" marL="0">
              <a:buNone/>
            </a:pPr>
            <a:r>
              <a:rPr lang="en-US" sz="1500" b="1" dirty="0">
                <a:solidFill>
                  <a:srgbClr val="FFB454"/>
                </a:solidFill>
                <a:latin typeface="Poppins" pitchFamily="34" charset="0"/>
                <a:ea typeface="Poppins" pitchFamily="34" charset="-122"/>
                <a:cs typeface="Poppins" pitchFamily="34" charset="-120"/>
              </a:rPr>
              <a:t>1</a:t>
            </a:r>
            <a:endParaRPr lang="en-US" sz="1500" dirty="0"/>
          </a:p>
        </p:txBody>
      </p:sp>
      <p:sp>
        <p:nvSpPr>
          <p:cNvPr id="7" name="Text 5"/>
          <p:cNvSpPr/>
          <p:nvPr/>
        </p:nvSpPr>
        <p:spPr>
          <a:xfrm>
            <a:off x="1234440" y="1965960"/>
            <a:ext cx="10241280" cy="658368"/>
          </a:xfrm>
          <a:prstGeom prst="rect">
            <a:avLst/>
          </a:prstGeom>
          <a:noFill/>
          <a:ln/>
        </p:spPr>
        <p:txBody>
          <a:bodyPr wrap="square" rtlCol="0" anchor="ctr"/>
          <a:lstStyle/>
          <a:p>
            <a:pPr indent="0" marL="0">
              <a:buNone/>
            </a:pPr>
            <a:r>
              <a:rPr lang="en-US" sz="1400" dirty="0">
                <a:solidFill>
                  <a:srgbClr val="F1F3FB"/>
                </a:solidFill>
                <a:latin typeface="Poppins" pitchFamily="34" charset="0"/>
                <a:ea typeface="Poppins" pitchFamily="34" charset="-122"/>
                <a:cs typeface="Poppins" pitchFamily="34" charset="-120"/>
              </a:rPr>
              <a:t>Home page — hero, features, why AWS</a:t>
            </a:r>
            <a:endParaRPr lang="en-US" sz="1400" dirty="0"/>
          </a:p>
        </p:txBody>
      </p:sp>
      <p:sp>
        <p:nvSpPr>
          <p:cNvPr id="8" name="Shape 6"/>
          <p:cNvSpPr/>
          <p:nvPr/>
        </p:nvSpPr>
        <p:spPr>
          <a:xfrm>
            <a:off x="457200" y="2743200"/>
            <a:ext cx="11247120" cy="658368"/>
          </a:xfrm>
          <a:prstGeom prst="roundRect">
            <a:avLst>
              <a:gd name="adj" fmla="val 16667"/>
            </a:avLst>
          </a:prstGeom>
          <a:solidFill>
            <a:srgbClr val="161C2E"/>
          </a:solidFill>
          <a:ln/>
        </p:spPr>
      </p:sp>
      <p:sp>
        <p:nvSpPr>
          <p:cNvPr id="9" name="Text 7"/>
          <p:cNvSpPr/>
          <p:nvPr/>
        </p:nvSpPr>
        <p:spPr>
          <a:xfrm>
            <a:off x="640080" y="2816352"/>
            <a:ext cx="457200" cy="512064"/>
          </a:xfrm>
          <a:prstGeom prst="rect">
            <a:avLst/>
          </a:prstGeom>
          <a:noFill/>
          <a:ln/>
        </p:spPr>
        <p:txBody>
          <a:bodyPr wrap="square" rtlCol="0" anchor="ctr"/>
          <a:lstStyle/>
          <a:p>
            <a:pPr algn="ctr" indent="0" marL="0">
              <a:buNone/>
            </a:pPr>
            <a:r>
              <a:rPr lang="en-US" sz="1500" b="1" dirty="0">
                <a:solidFill>
                  <a:srgbClr val="FFB454"/>
                </a:solidFill>
                <a:latin typeface="Poppins" pitchFamily="34" charset="0"/>
                <a:ea typeface="Poppins" pitchFamily="34" charset="-122"/>
                <a:cs typeface="Poppins" pitchFamily="34" charset="-120"/>
              </a:rPr>
              <a:t>2</a:t>
            </a:r>
            <a:endParaRPr lang="en-US" sz="1500" dirty="0"/>
          </a:p>
        </p:txBody>
      </p:sp>
      <p:sp>
        <p:nvSpPr>
          <p:cNvPr id="10" name="Text 8"/>
          <p:cNvSpPr/>
          <p:nvPr/>
        </p:nvSpPr>
        <p:spPr>
          <a:xfrm>
            <a:off x="1234440" y="2743200"/>
            <a:ext cx="10241280" cy="658368"/>
          </a:xfrm>
          <a:prstGeom prst="rect">
            <a:avLst/>
          </a:prstGeom>
          <a:noFill/>
          <a:ln/>
        </p:spPr>
        <p:txBody>
          <a:bodyPr wrap="square" rtlCol="0" anchor="ctr"/>
          <a:lstStyle/>
          <a:p>
            <a:pPr indent="0" marL="0">
              <a:buNone/>
            </a:pPr>
            <a:r>
              <a:rPr lang="en-US" sz="1400" dirty="0">
                <a:solidFill>
                  <a:srgbClr val="F1F3FB"/>
                </a:solidFill>
                <a:latin typeface="Poppins" pitchFamily="34" charset="0"/>
                <a:ea typeface="Poppins" pitchFamily="34" charset="-122"/>
                <a:cs typeface="Poppins" pitchFamily="34" charset="-120"/>
              </a:rPr>
              <a:t>Login — simulated authentication</a:t>
            </a:r>
            <a:endParaRPr lang="en-US" sz="1400" dirty="0"/>
          </a:p>
        </p:txBody>
      </p:sp>
      <p:sp>
        <p:nvSpPr>
          <p:cNvPr id="11" name="Shape 9"/>
          <p:cNvSpPr/>
          <p:nvPr/>
        </p:nvSpPr>
        <p:spPr>
          <a:xfrm>
            <a:off x="457200" y="3520440"/>
            <a:ext cx="11247120" cy="658368"/>
          </a:xfrm>
          <a:prstGeom prst="roundRect">
            <a:avLst>
              <a:gd name="adj" fmla="val 16667"/>
            </a:avLst>
          </a:prstGeom>
          <a:solidFill>
            <a:srgbClr val="161C2E"/>
          </a:solidFill>
          <a:ln/>
        </p:spPr>
      </p:sp>
      <p:sp>
        <p:nvSpPr>
          <p:cNvPr id="12" name="Text 10"/>
          <p:cNvSpPr/>
          <p:nvPr/>
        </p:nvSpPr>
        <p:spPr>
          <a:xfrm>
            <a:off x="640080" y="3593592"/>
            <a:ext cx="457200" cy="512064"/>
          </a:xfrm>
          <a:prstGeom prst="rect">
            <a:avLst/>
          </a:prstGeom>
          <a:noFill/>
          <a:ln/>
        </p:spPr>
        <p:txBody>
          <a:bodyPr wrap="square" rtlCol="0" anchor="ctr"/>
          <a:lstStyle/>
          <a:p>
            <a:pPr algn="ctr" indent="0" marL="0">
              <a:buNone/>
            </a:pPr>
            <a:r>
              <a:rPr lang="en-US" sz="1500" b="1" dirty="0">
                <a:solidFill>
                  <a:srgbClr val="FFB454"/>
                </a:solidFill>
                <a:latin typeface="Poppins" pitchFamily="34" charset="0"/>
                <a:ea typeface="Poppins" pitchFamily="34" charset="-122"/>
                <a:cs typeface="Poppins" pitchFamily="34" charset="-120"/>
              </a:rPr>
              <a:t>3</a:t>
            </a:r>
            <a:endParaRPr lang="en-US" sz="1500" dirty="0"/>
          </a:p>
        </p:txBody>
      </p:sp>
      <p:sp>
        <p:nvSpPr>
          <p:cNvPr id="13" name="Text 11"/>
          <p:cNvSpPr/>
          <p:nvPr/>
        </p:nvSpPr>
        <p:spPr>
          <a:xfrm>
            <a:off x="1234440" y="3520440"/>
            <a:ext cx="10241280" cy="658368"/>
          </a:xfrm>
          <a:prstGeom prst="rect">
            <a:avLst/>
          </a:prstGeom>
          <a:noFill/>
          <a:ln/>
        </p:spPr>
        <p:txBody>
          <a:bodyPr wrap="square" rtlCol="0" anchor="ctr"/>
          <a:lstStyle/>
          <a:p>
            <a:pPr indent="0" marL="0">
              <a:buNone/>
            </a:pPr>
            <a:r>
              <a:rPr lang="en-US" sz="1400" dirty="0">
                <a:solidFill>
                  <a:srgbClr val="F1F3FB"/>
                </a:solidFill>
                <a:latin typeface="Poppins" pitchFamily="34" charset="0"/>
                <a:ea typeface="Poppins" pitchFamily="34" charset="-122"/>
                <a:cs typeface="Poppins" pitchFamily="34" charset="-120"/>
              </a:rPr>
              <a:t>Dashboard — stats &amp; recent uploads</a:t>
            </a:r>
            <a:endParaRPr lang="en-US" sz="1400" dirty="0"/>
          </a:p>
        </p:txBody>
      </p:sp>
      <p:sp>
        <p:nvSpPr>
          <p:cNvPr id="14" name="Shape 12"/>
          <p:cNvSpPr/>
          <p:nvPr/>
        </p:nvSpPr>
        <p:spPr>
          <a:xfrm>
            <a:off x="457200" y="4297680"/>
            <a:ext cx="11247120" cy="658368"/>
          </a:xfrm>
          <a:prstGeom prst="roundRect">
            <a:avLst>
              <a:gd name="adj" fmla="val 16667"/>
            </a:avLst>
          </a:prstGeom>
          <a:solidFill>
            <a:srgbClr val="161C2E"/>
          </a:solidFill>
          <a:ln/>
        </p:spPr>
      </p:sp>
      <p:sp>
        <p:nvSpPr>
          <p:cNvPr id="15" name="Text 13"/>
          <p:cNvSpPr/>
          <p:nvPr/>
        </p:nvSpPr>
        <p:spPr>
          <a:xfrm>
            <a:off x="640080" y="4370832"/>
            <a:ext cx="457200" cy="512064"/>
          </a:xfrm>
          <a:prstGeom prst="rect">
            <a:avLst/>
          </a:prstGeom>
          <a:noFill/>
          <a:ln/>
        </p:spPr>
        <p:txBody>
          <a:bodyPr wrap="square" rtlCol="0" anchor="ctr"/>
          <a:lstStyle/>
          <a:p>
            <a:pPr algn="ctr" indent="0" marL="0">
              <a:buNone/>
            </a:pPr>
            <a:r>
              <a:rPr lang="en-US" sz="1500" b="1" dirty="0">
                <a:solidFill>
                  <a:srgbClr val="FFB454"/>
                </a:solidFill>
                <a:latin typeface="Poppins" pitchFamily="34" charset="0"/>
                <a:ea typeface="Poppins" pitchFamily="34" charset="-122"/>
                <a:cs typeface="Poppins" pitchFamily="34" charset="-120"/>
              </a:rPr>
              <a:t>4</a:t>
            </a:r>
            <a:endParaRPr lang="en-US" sz="1500" dirty="0"/>
          </a:p>
        </p:txBody>
      </p:sp>
      <p:sp>
        <p:nvSpPr>
          <p:cNvPr id="16" name="Text 14"/>
          <p:cNvSpPr/>
          <p:nvPr/>
        </p:nvSpPr>
        <p:spPr>
          <a:xfrm>
            <a:off x="1234440" y="4297680"/>
            <a:ext cx="10241280" cy="658368"/>
          </a:xfrm>
          <a:prstGeom prst="rect">
            <a:avLst/>
          </a:prstGeom>
          <a:noFill/>
          <a:ln/>
        </p:spPr>
        <p:txBody>
          <a:bodyPr wrap="square" rtlCol="0" anchor="ctr"/>
          <a:lstStyle/>
          <a:p>
            <a:pPr indent="0" marL="0">
              <a:buNone/>
            </a:pPr>
            <a:r>
              <a:rPr lang="en-US" sz="1400" dirty="0">
                <a:solidFill>
                  <a:srgbClr val="F1F3FB"/>
                </a:solidFill>
                <a:latin typeface="Poppins" pitchFamily="34" charset="0"/>
                <a:ea typeface="Poppins" pitchFamily="34" charset="-122"/>
                <a:cs typeface="Poppins" pitchFamily="34" charset="-120"/>
              </a:rPr>
              <a:t>Upload — drag &amp; drop a certificate</a:t>
            </a:r>
            <a:endParaRPr lang="en-US" sz="1400" dirty="0"/>
          </a:p>
        </p:txBody>
      </p:sp>
      <p:sp>
        <p:nvSpPr>
          <p:cNvPr id="17" name="Shape 15"/>
          <p:cNvSpPr/>
          <p:nvPr/>
        </p:nvSpPr>
        <p:spPr>
          <a:xfrm>
            <a:off x="457200" y="5074920"/>
            <a:ext cx="11247120" cy="658368"/>
          </a:xfrm>
          <a:prstGeom prst="roundRect">
            <a:avLst>
              <a:gd name="adj" fmla="val 16667"/>
            </a:avLst>
          </a:prstGeom>
          <a:solidFill>
            <a:srgbClr val="161C2E"/>
          </a:solidFill>
          <a:ln/>
        </p:spPr>
      </p:sp>
      <p:sp>
        <p:nvSpPr>
          <p:cNvPr id="18" name="Text 16"/>
          <p:cNvSpPr/>
          <p:nvPr/>
        </p:nvSpPr>
        <p:spPr>
          <a:xfrm>
            <a:off x="640080" y="5148072"/>
            <a:ext cx="457200" cy="512064"/>
          </a:xfrm>
          <a:prstGeom prst="rect">
            <a:avLst/>
          </a:prstGeom>
          <a:noFill/>
          <a:ln/>
        </p:spPr>
        <p:txBody>
          <a:bodyPr wrap="square" rtlCol="0" anchor="ctr"/>
          <a:lstStyle/>
          <a:p>
            <a:pPr algn="ctr" indent="0" marL="0">
              <a:buNone/>
            </a:pPr>
            <a:r>
              <a:rPr lang="en-US" sz="1500" b="1" dirty="0">
                <a:solidFill>
                  <a:srgbClr val="FFB454"/>
                </a:solidFill>
                <a:latin typeface="Poppins" pitchFamily="34" charset="0"/>
                <a:ea typeface="Poppins" pitchFamily="34" charset="-122"/>
                <a:cs typeface="Poppins" pitchFamily="34" charset="-120"/>
              </a:rPr>
              <a:t>5</a:t>
            </a:r>
            <a:endParaRPr lang="en-US" sz="1500" dirty="0"/>
          </a:p>
        </p:txBody>
      </p:sp>
      <p:sp>
        <p:nvSpPr>
          <p:cNvPr id="19" name="Text 17"/>
          <p:cNvSpPr/>
          <p:nvPr/>
        </p:nvSpPr>
        <p:spPr>
          <a:xfrm>
            <a:off x="1234440" y="5074920"/>
            <a:ext cx="10241280" cy="658368"/>
          </a:xfrm>
          <a:prstGeom prst="rect">
            <a:avLst/>
          </a:prstGeom>
          <a:noFill/>
          <a:ln/>
        </p:spPr>
        <p:txBody>
          <a:bodyPr wrap="square" rtlCol="0" anchor="ctr"/>
          <a:lstStyle/>
          <a:p>
            <a:pPr indent="0" marL="0">
              <a:buNone/>
            </a:pPr>
            <a:r>
              <a:rPr lang="en-US" sz="1400" dirty="0">
                <a:solidFill>
                  <a:srgbClr val="F1F3FB"/>
                </a:solidFill>
                <a:latin typeface="Poppins" pitchFamily="34" charset="0"/>
                <a:ea typeface="Poppins" pitchFamily="34" charset="-122"/>
                <a:cs typeface="Poppins" pitchFamily="34" charset="-120"/>
              </a:rPr>
              <a:t>Gallery — search and filter certificates</a:t>
            </a:r>
            <a:endParaRPr lang="en-US" sz="1400" dirty="0"/>
          </a:p>
        </p:txBody>
      </p:sp>
      <p:sp>
        <p:nvSpPr>
          <p:cNvPr id="20" name="Shape 18"/>
          <p:cNvSpPr/>
          <p:nvPr/>
        </p:nvSpPr>
        <p:spPr>
          <a:xfrm>
            <a:off x="457200" y="5852160"/>
            <a:ext cx="11247120" cy="658368"/>
          </a:xfrm>
          <a:prstGeom prst="roundRect">
            <a:avLst>
              <a:gd name="adj" fmla="val 16667"/>
            </a:avLst>
          </a:prstGeom>
          <a:solidFill>
            <a:srgbClr val="161C2E"/>
          </a:solidFill>
          <a:ln/>
        </p:spPr>
      </p:sp>
      <p:sp>
        <p:nvSpPr>
          <p:cNvPr id="21" name="Text 19"/>
          <p:cNvSpPr/>
          <p:nvPr/>
        </p:nvSpPr>
        <p:spPr>
          <a:xfrm>
            <a:off x="640080" y="5925312"/>
            <a:ext cx="457200" cy="512064"/>
          </a:xfrm>
          <a:prstGeom prst="rect">
            <a:avLst/>
          </a:prstGeom>
          <a:noFill/>
          <a:ln/>
        </p:spPr>
        <p:txBody>
          <a:bodyPr wrap="square" rtlCol="0" anchor="ctr"/>
          <a:lstStyle/>
          <a:p>
            <a:pPr algn="ctr" indent="0" marL="0">
              <a:buNone/>
            </a:pPr>
            <a:r>
              <a:rPr lang="en-US" sz="1500" b="1" dirty="0">
                <a:solidFill>
                  <a:srgbClr val="FFB454"/>
                </a:solidFill>
                <a:latin typeface="Poppins" pitchFamily="34" charset="0"/>
                <a:ea typeface="Poppins" pitchFamily="34" charset="-122"/>
                <a:cs typeface="Poppins" pitchFamily="34" charset="-120"/>
              </a:rPr>
              <a:t>6</a:t>
            </a:r>
            <a:endParaRPr lang="en-US" sz="1500" dirty="0"/>
          </a:p>
        </p:txBody>
      </p:sp>
      <p:sp>
        <p:nvSpPr>
          <p:cNvPr id="22" name="Text 20"/>
          <p:cNvSpPr/>
          <p:nvPr/>
        </p:nvSpPr>
        <p:spPr>
          <a:xfrm>
            <a:off x="1234440" y="5852160"/>
            <a:ext cx="10241280" cy="658368"/>
          </a:xfrm>
          <a:prstGeom prst="rect">
            <a:avLst/>
          </a:prstGeom>
          <a:noFill/>
          <a:ln/>
        </p:spPr>
        <p:txBody>
          <a:bodyPr wrap="square" rtlCol="0" anchor="ctr"/>
          <a:lstStyle/>
          <a:p>
            <a:pPr indent="0" marL="0">
              <a:buNone/>
            </a:pPr>
            <a:r>
              <a:rPr lang="en-US" sz="1400" dirty="0">
                <a:solidFill>
                  <a:srgbClr val="F1F3FB"/>
                </a:solidFill>
                <a:latin typeface="Poppins" pitchFamily="34" charset="0"/>
                <a:ea typeface="Poppins" pitchFamily="34" charset="-122"/>
                <a:cs typeface="Poppins" pitchFamily="34" charset="-120"/>
              </a:rPr>
              <a:t>Profile — storage usage overview</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457200" y="411480"/>
            <a:ext cx="2377440" cy="384048"/>
          </a:xfrm>
          <a:prstGeom prst="roundRect">
            <a:avLst>
              <a:gd name="adj" fmla="val 50000"/>
            </a:avLst>
          </a:prstGeom>
          <a:solidFill>
            <a:srgbClr val="FF6B81">
              <a:alpha val="15000"/>
            </a:srgbClr>
          </a:solidFill>
          <a:ln w="12700">
            <a:solidFill>
              <a:srgbClr val="FF6B81"/>
            </a:solidFill>
            <a:prstDash val="solid"/>
          </a:ln>
        </p:spPr>
      </p:sp>
      <p:sp>
        <p:nvSpPr>
          <p:cNvPr id="3" name="Text 1"/>
          <p:cNvSpPr/>
          <p:nvPr/>
        </p:nvSpPr>
        <p:spPr>
          <a:xfrm>
            <a:off x="457200" y="411480"/>
            <a:ext cx="2377440" cy="384048"/>
          </a:xfrm>
          <a:prstGeom prst="rect">
            <a:avLst/>
          </a:prstGeom>
          <a:noFill/>
          <a:ln/>
        </p:spPr>
        <p:txBody>
          <a:bodyPr wrap="square" rtlCol="0" anchor="ctr"/>
          <a:lstStyle/>
          <a:p>
            <a:pPr algn="ctr" indent="0" marL="0">
              <a:buNone/>
            </a:pPr>
            <a:r>
              <a:rPr lang="en-US" sz="1100" b="1" spc="100" kern="0" dirty="0">
                <a:solidFill>
                  <a:srgbClr val="FF6B81"/>
                </a:solidFill>
                <a:latin typeface="Poppins" pitchFamily="34" charset="0"/>
                <a:ea typeface="Poppins" pitchFamily="34" charset="-122"/>
                <a:cs typeface="Poppins" pitchFamily="34" charset="-120"/>
              </a:rPr>
              <a:t>CHALLENGES</a:t>
            </a:r>
            <a:endParaRPr lang="en-US" sz="1100" dirty="0"/>
          </a:p>
        </p:txBody>
      </p:sp>
      <p:sp>
        <p:nvSpPr>
          <p:cNvPr id="4" name="Text 2"/>
          <p:cNvSpPr/>
          <p:nvPr/>
        </p:nvSpPr>
        <p:spPr>
          <a:xfrm>
            <a:off x="457200" y="914400"/>
            <a:ext cx="11247120" cy="822960"/>
          </a:xfrm>
          <a:prstGeom prst="rect">
            <a:avLst/>
          </a:prstGeom>
          <a:noFill/>
          <a:ln/>
        </p:spPr>
        <p:txBody>
          <a:bodyPr wrap="square" lIns="0" tIns="0" rIns="0" bIns="0" rtlCol="0" anchor="ctr"/>
          <a:lstStyle/>
          <a:p>
            <a:pPr indent="0" marL="0">
              <a:buNone/>
            </a:pPr>
            <a:r>
              <a:rPr lang="en-US" sz="3200" b="1" dirty="0">
                <a:solidFill>
                  <a:srgbClr val="F1F3FB"/>
                </a:solidFill>
                <a:latin typeface="Poppins" pitchFamily="34" charset="0"/>
                <a:ea typeface="Poppins" pitchFamily="34" charset="-122"/>
                <a:cs typeface="Poppins" pitchFamily="34" charset="-120"/>
              </a:rPr>
              <a:t>What was hard about this project</a:t>
            </a:r>
            <a:endParaRPr lang="en-US" sz="3200" dirty="0"/>
          </a:p>
        </p:txBody>
      </p:sp>
      <p:sp>
        <p:nvSpPr>
          <p:cNvPr id="5" name="Shape 3"/>
          <p:cNvSpPr/>
          <p:nvPr/>
        </p:nvSpPr>
        <p:spPr>
          <a:xfrm>
            <a:off x="457200" y="2011680"/>
            <a:ext cx="11247120" cy="960120"/>
          </a:xfrm>
          <a:prstGeom prst="roundRect">
            <a:avLst>
              <a:gd name="adj" fmla="val 13333"/>
            </a:avLst>
          </a:prstGeom>
          <a:solidFill>
            <a:srgbClr val="161C2E"/>
          </a:solidFill>
          <a:ln/>
        </p:spPr>
      </p:sp>
      <p:sp>
        <p:nvSpPr>
          <p:cNvPr id="6" name="Text 4"/>
          <p:cNvSpPr/>
          <p:nvPr/>
        </p:nvSpPr>
        <p:spPr>
          <a:xfrm>
            <a:off x="731520" y="2084832"/>
            <a:ext cx="3474720" cy="822960"/>
          </a:xfrm>
          <a:prstGeom prst="rect">
            <a:avLst/>
          </a:prstGeom>
          <a:noFill/>
          <a:ln/>
        </p:spPr>
        <p:txBody>
          <a:bodyPr wrap="square" rtlCol="0" anchor="ctr"/>
          <a:lstStyle/>
          <a:p>
            <a:pPr indent="0" marL="0">
              <a:buNone/>
            </a:pPr>
            <a:r>
              <a:rPr lang="en-US" sz="1450" b="1" dirty="0">
                <a:solidFill>
                  <a:srgbClr val="FF6B81"/>
                </a:solidFill>
                <a:latin typeface="Poppins" pitchFamily="34" charset="0"/>
                <a:ea typeface="Poppins" pitchFamily="34" charset="-122"/>
                <a:cs typeface="Poppins" pitchFamily="34" charset="-120"/>
              </a:rPr>
              <a:t>Learning AWS from scratch</a:t>
            </a:r>
            <a:endParaRPr lang="en-US" sz="1450" dirty="0"/>
          </a:p>
        </p:txBody>
      </p:sp>
      <p:sp>
        <p:nvSpPr>
          <p:cNvPr id="7" name="Text 5"/>
          <p:cNvSpPr/>
          <p:nvPr/>
        </p:nvSpPr>
        <p:spPr>
          <a:xfrm>
            <a:off x="4389120" y="2084832"/>
            <a:ext cx="7040880" cy="822960"/>
          </a:xfrm>
          <a:prstGeom prst="rect">
            <a:avLst/>
          </a:prstGeom>
          <a:noFill/>
          <a:ln/>
        </p:spPr>
        <p:txBody>
          <a:bodyPr wrap="square" rtlCol="0" anchor="ctr"/>
          <a:lstStyle/>
          <a:p>
            <a:pPr indent="0" marL="0">
              <a:buNone/>
            </a:pPr>
            <a:r>
              <a:rPr lang="en-US" sz="1250" dirty="0">
                <a:solidFill>
                  <a:srgbClr val="A9B0C6"/>
                </a:solidFill>
                <a:latin typeface="Poppins" pitchFamily="34" charset="0"/>
                <a:ea typeface="Poppins" pitchFamily="34" charset="-122"/>
                <a:cs typeface="Poppins" pitchFamily="34" charset="-120"/>
              </a:rPr>
              <a:t>Had no prior cloud computing background — learned S3 and IAM concepts during the internship.</a:t>
            </a:r>
            <a:endParaRPr lang="en-US" sz="1250" dirty="0"/>
          </a:p>
        </p:txBody>
      </p:sp>
      <p:sp>
        <p:nvSpPr>
          <p:cNvPr id="8" name="Shape 6"/>
          <p:cNvSpPr/>
          <p:nvPr/>
        </p:nvSpPr>
        <p:spPr>
          <a:xfrm>
            <a:off x="457200" y="3127248"/>
            <a:ext cx="11247120" cy="960120"/>
          </a:xfrm>
          <a:prstGeom prst="roundRect">
            <a:avLst>
              <a:gd name="adj" fmla="val 13333"/>
            </a:avLst>
          </a:prstGeom>
          <a:solidFill>
            <a:srgbClr val="161C2E"/>
          </a:solidFill>
          <a:ln/>
        </p:spPr>
      </p:sp>
      <p:sp>
        <p:nvSpPr>
          <p:cNvPr id="9" name="Text 7"/>
          <p:cNvSpPr/>
          <p:nvPr/>
        </p:nvSpPr>
        <p:spPr>
          <a:xfrm>
            <a:off x="731520" y="3200400"/>
            <a:ext cx="3474720" cy="822960"/>
          </a:xfrm>
          <a:prstGeom prst="rect">
            <a:avLst/>
          </a:prstGeom>
          <a:noFill/>
          <a:ln/>
        </p:spPr>
        <p:txBody>
          <a:bodyPr wrap="square" rtlCol="0" anchor="ctr"/>
          <a:lstStyle/>
          <a:p>
            <a:pPr indent="0" marL="0">
              <a:buNone/>
            </a:pPr>
            <a:r>
              <a:rPr lang="en-US" sz="1450" b="1" dirty="0">
                <a:solidFill>
                  <a:srgbClr val="FF6B81"/>
                </a:solidFill>
                <a:latin typeface="Poppins" pitchFamily="34" charset="0"/>
                <a:ea typeface="Poppins" pitchFamily="34" charset="-122"/>
                <a:cs typeface="Poppins" pitchFamily="34" charset="-120"/>
              </a:rPr>
              <a:t>Balancing simplicity with realism</a:t>
            </a:r>
            <a:endParaRPr lang="en-US" sz="1450" dirty="0"/>
          </a:p>
        </p:txBody>
      </p:sp>
      <p:sp>
        <p:nvSpPr>
          <p:cNvPr id="10" name="Text 8"/>
          <p:cNvSpPr/>
          <p:nvPr/>
        </p:nvSpPr>
        <p:spPr>
          <a:xfrm>
            <a:off x="4389120" y="3200400"/>
            <a:ext cx="7040880" cy="822960"/>
          </a:xfrm>
          <a:prstGeom prst="rect">
            <a:avLst/>
          </a:prstGeom>
          <a:noFill/>
          <a:ln/>
        </p:spPr>
        <p:txBody>
          <a:bodyPr wrap="square" rtlCol="0" anchor="ctr"/>
          <a:lstStyle/>
          <a:p>
            <a:pPr indent="0" marL="0">
              <a:buNone/>
            </a:pPr>
            <a:r>
              <a:rPr lang="en-US" sz="1250" dirty="0">
                <a:solidFill>
                  <a:srgbClr val="A9B0C6"/>
                </a:solidFill>
                <a:latin typeface="Poppins" pitchFamily="34" charset="0"/>
                <a:ea typeface="Poppins" pitchFamily="34" charset="-122"/>
                <a:cs typeface="Poppins" pitchFamily="34" charset="-120"/>
              </a:rPr>
              <a:t>Needed a beginner project that still reflects real AWS architecture, not a fake mockup.</a:t>
            </a:r>
            <a:endParaRPr lang="en-US" sz="1250" dirty="0"/>
          </a:p>
        </p:txBody>
      </p:sp>
      <p:sp>
        <p:nvSpPr>
          <p:cNvPr id="11" name="Shape 9"/>
          <p:cNvSpPr/>
          <p:nvPr/>
        </p:nvSpPr>
        <p:spPr>
          <a:xfrm>
            <a:off x="457200" y="4242816"/>
            <a:ext cx="11247120" cy="960120"/>
          </a:xfrm>
          <a:prstGeom prst="roundRect">
            <a:avLst>
              <a:gd name="adj" fmla="val 13333"/>
            </a:avLst>
          </a:prstGeom>
          <a:solidFill>
            <a:srgbClr val="161C2E"/>
          </a:solidFill>
          <a:ln/>
        </p:spPr>
      </p:sp>
      <p:sp>
        <p:nvSpPr>
          <p:cNvPr id="12" name="Text 10"/>
          <p:cNvSpPr/>
          <p:nvPr/>
        </p:nvSpPr>
        <p:spPr>
          <a:xfrm>
            <a:off x="731520" y="4315968"/>
            <a:ext cx="3474720" cy="822960"/>
          </a:xfrm>
          <a:prstGeom prst="rect">
            <a:avLst/>
          </a:prstGeom>
          <a:noFill/>
          <a:ln/>
        </p:spPr>
        <p:txBody>
          <a:bodyPr wrap="square" rtlCol="0" anchor="ctr"/>
          <a:lstStyle/>
          <a:p>
            <a:pPr indent="0" marL="0">
              <a:buNone/>
            </a:pPr>
            <a:r>
              <a:rPr lang="en-US" sz="1450" b="1" dirty="0">
                <a:solidFill>
                  <a:srgbClr val="FF6B81"/>
                </a:solidFill>
                <a:latin typeface="Poppins" pitchFamily="34" charset="0"/>
                <a:ea typeface="Poppins" pitchFamily="34" charset="-122"/>
                <a:cs typeface="Poppins" pitchFamily="34" charset="-120"/>
              </a:rPr>
              <a:t>Designing a professional UI</a:t>
            </a:r>
            <a:endParaRPr lang="en-US" sz="1450" dirty="0"/>
          </a:p>
        </p:txBody>
      </p:sp>
      <p:sp>
        <p:nvSpPr>
          <p:cNvPr id="13" name="Text 11"/>
          <p:cNvSpPr/>
          <p:nvPr/>
        </p:nvSpPr>
        <p:spPr>
          <a:xfrm>
            <a:off x="4389120" y="4315968"/>
            <a:ext cx="7040880" cy="822960"/>
          </a:xfrm>
          <a:prstGeom prst="rect">
            <a:avLst/>
          </a:prstGeom>
          <a:noFill/>
          <a:ln/>
        </p:spPr>
        <p:txBody>
          <a:bodyPr wrap="square" rtlCol="0" anchor="ctr"/>
          <a:lstStyle/>
          <a:p>
            <a:pPr indent="0" marL="0">
              <a:buNone/>
            </a:pPr>
            <a:r>
              <a:rPr lang="en-US" sz="1250" dirty="0">
                <a:solidFill>
                  <a:srgbClr val="A9B0C6"/>
                </a:solidFill>
                <a:latin typeface="Poppins" pitchFamily="34" charset="0"/>
                <a:ea typeface="Poppins" pitchFamily="34" charset="-122"/>
                <a:cs typeface="Poppins" pitchFamily="34" charset="-120"/>
              </a:rPr>
              <a:t>Building a SaaS-quality interface using only HTML, CSS, and JavaScript, no frameworks.</a:t>
            </a:r>
            <a:endParaRPr lang="en-US" sz="1250" dirty="0"/>
          </a:p>
        </p:txBody>
      </p:sp>
      <p:sp>
        <p:nvSpPr>
          <p:cNvPr id="14" name="Shape 12"/>
          <p:cNvSpPr/>
          <p:nvPr/>
        </p:nvSpPr>
        <p:spPr>
          <a:xfrm>
            <a:off x="457200" y="5358384"/>
            <a:ext cx="11247120" cy="960120"/>
          </a:xfrm>
          <a:prstGeom prst="roundRect">
            <a:avLst>
              <a:gd name="adj" fmla="val 13333"/>
            </a:avLst>
          </a:prstGeom>
          <a:solidFill>
            <a:srgbClr val="161C2E"/>
          </a:solidFill>
          <a:ln/>
        </p:spPr>
      </p:sp>
      <p:sp>
        <p:nvSpPr>
          <p:cNvPr id="15" name="Text 13"/>
          <p:cNvSpPr/>
          <p:nvPr/>
        </p:nvSpPr>
        <p:spPr>
          <a:xfrm>
            <a:off x="731520" y="5431536"/>
            <a:ext cx="3474720" cy="822960"/>
          </a:xfrm>
          <a:prstGeom prst="rect">
            <a:avLst/>
          </a:prstGeom>
          <a:noFill/>
          <a:ln/>
        </p:spPr>
        <p:txBody>
          <a:bodyPr wrap="square" rtlCol="0" anchor="ctr"/>
          <a:lstStyle/>
          <a:p>
            <a:pPr indent="0" marL="0">
              <a:buNone/>
            </a:pPr>
            <a:r>
              <a:rPr lang="en-US" sz="1450" b="1" dirty="0">
                <a:solidFill>
                  <a:srgbClr val="FF6B81"/>
                </a:solidFill>
                <a:latin typeface="Poppins" pitchFamily="34" charset="0"/>
                <a:ea typeface="Poppins" pitchFamily="34" charset="-122"/>
                <a:cs typeface="Poppins" pitchFamily="34" charset="-120"/>
              </a:rPr>
              <a:t>Tight timeline</a:t>
            </a:r>
            <a:endParaRPr lang="en-US" sz="1450" dirty="0"/>
          </a:p>
        </p:txBody>
      </p:sp>
      <p:sp>
        <p:nvSpPr>
          <p:cNvPr id="16" name="Text 14"/>
          <p:cNvSpPr/>
          <p:nvPr/>
        </p:nvSpPr>
        <p:spPr>
          <a:xfrm>
            <a:off x="4389120" y="5431536"/>
            <a:ext cx="7040880" cy="822960"/>
          </a:xfrm>
          <a:prstGeom prst="rect">
            <a:avLst/>
          </a:prstGeom>
          <a:noFill/>
          <a:ln/>
        </p:spPr>
        <p:txBody>
          <a:bodyPr wrap="square" rtlCol="0" anchor="ctr"/>
          <a:lstStyle/>
          <a:p>
            <a:pPr indent="0" marL="0">
              <a:buNone/>
            </a:pPr>
            <a:r>
              <a:rPr lang="en-US" sz="1250" dirty="0">
                <a:solidFill>
                  <a:srgbClr val="A9B0C6"/>
                </a:solidFill>
                <a:latin typeface="Poppins" pitchFamily="34" charset="0"/>
                <a:ea typeface="Poppins" pitchFamily="34" charset="-122"/>
                <a:cs typeface="Poppins" pitchFamily="34" charset="-120"/>
              </a:rPr>
              <a:t>Completing design, code, documentation, and presentation within a short internship deadline.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457200" y="411480"/>
            <a:ext cx="2377440" cy="384048"/>
          </a:xfrm>
          <a:prstGeom prst="roundRect">
            <a:avLst>
              <a:gd name="adj" fmla="val 50000"/>
            </a:avLst>
          </a:prstGeom>
          <a:solidFill>
            <a:srgbClr val="6D5EFC">
              <a:alpha val="15000"/>
            </a:srgbClr>
          </a:solidFill>
          <a:ln w="12700">
            <a:solidFill>
              <a:srgbClr val="6D5EFC"/>
            </a:solidFill>
            <a:prstDash val="solid"/>
          </a:ln>
        </p:spPr>
      </p:sp>
      <p:sp>
        <p:nvSpPr>
          <p:cNvPr id="3" name="Text 1"/>
          <p:cNvSpPr/>
          <p:nvPr/>
        </p:nvSpPr>
        <p:spPr>
          <a:xfrm>
            <a:off x="457200" y="411480"/>
            <a:ext cx="2377440" cy="384048"/>
          </a:xfrm>
          <a:prstGeom prst="rect">
            <a:avLst/>
          </a:prstGeom>
          <a:noFill/>
          <a:ln/>
        </p:spPr>
        <p:txBody>
          <a:bodyPr wrap="square" rtlCol="0" anchor="ctr"/>
          <a:lstStyle/>
          <a:p>
            <a:pPr algn="ctr" indent="0" marL="0">
              <a:buNone/>
            </a:pPr>
            <a:r>
              <a:rPr lang="en-US" sz="1100" b="1" spc="100" kern="0" dirty="0">
                <a:solidFill>
                  <a:srgbClr val="6D5EFC"/>
                </a:solidFill>
                <a:latin typeface="Poppins" pitchFamily="34" charset="0"/>
                <a:ea typeface="Poppins" pitchFamily="34" charset="-122"/>
                <a:cs typeface="Poppins" pitchFamily="34" charset="-120"/>
              </a:rPr>
              <a:t>FUTURE SCOPE</a:t>
            </a:r>
            <a:endParaRPr lang="en-US" sz="1100" dirty="0"/>
          </a:p>
        </p:txBody>
      </p:sp>
      <p:sp>
        <p:nvSpPr>
          <p:cNvPr id="4" name="Text 2"/>
          <p:cNvSpPr/>
          <p:nvPr/>
        </p:nvSpPr>
        <p:spPr>
          <a:xfrm>
            <a:off x="457200" y="914400"/>
            <a:ext cx="11247120" cy="822960"/>
          </a:xfrm>
          <a:prstGeom prst="rect">
            <a:avLst/>
          </a:prstGeom>
          <a:noFill/>
          <a:ln/>
        </p:spPr>
        <p:txBody>
          <a:bodyPr wrap="square" lIns="0" tIns="0" rIns="0" bIns="0" rtlCol="0" anchor="ctr"/>
          <a:lstStyle/>
          <a:p>
            <a:pPr indent="0" marL="0">
              <a:buNone/>
            </a:pPr>
            <a:r>
              <a:rPr lang="en-US" sz="3200" b="1" dirty="0">
                <a:solidFill>
                  <a:srgbClr val="F1F3FB"/>
                </a:solidFill>
                <a:latin typeface="Poppins" pitchFamily="34" charset="0"/>
                <a:ea typeface="Poppins" pitchFamily="34" charset="-122"/>
                <a:cs typeface="Poppins" pitchFamily="34" charset="-120"/>
              </a:rPr>
              <a:t>Where this project can go next</a:t>
            </a:r>
            <a:endParaRPr lang="en-US" sz="3200" dirty="0"/>
          </a:p>
        </p:txBody>
      </p:sp>
      <p:sp>
        <p:nvSpPr>
          <p:cNvPr id="5" name="Shape 3"/>
          <p:cNvSpPr/>
          <p:nvPr/>
        </p:nvSpPr>
        <p:spPr>
          <a:xfrm>
            <a:off x="457200" y="1965960"/>
            <a:ext cx="3611880" cy="1920240"/>
          </a:xfrm>
          <a:prstGeom prst="roundRect">
            <a:avLst>
              <a:gd name="adj" fmla="val 7619"/>
            </a:avLst>
          </a:prstGeom>
          <a:solidFill>
            <a:srgbClr val="161C2E"/>
          </a:solidFill>
          <a:ln w="9525">
            <a:solidFill>
              <a:srgbClr val="6D5EFC"/>
            </a:solidFill>
            <a:prstDash val="solid"/>
          </a:ln>
        </p:spPr>
      </p:sp>
      <p:sp>
        <p:nvSpPr>
          <p:cNvPr id="6" name="Text 4"/>
          <p:cNvSpPr/>
          <p:nvPr/>
        </p:nvSpPr>
        <p:spPr>
          <a:xfrm>
            <a:off x="685800" y="2148840"/>
            <a:ext cx="3200400" cy="457200"/>
          </a:xfrm>
          <a:prstGeom prst="rect">
            <a:avLst/>
          </a:prstGeom>
          <a:noFill/>
          <a:ln/>
        </p:spPr>
        <p:txBody>
          <a:bodyPr wrap="square" rtlCol="0" anchor="ctr"/>
          <a:lstStyle/>
          <a:p>
            <a:pPr indent="0" marL="0">
              <a:buNone/>
            </a:pPr>
            <a:r>
              <a:rPr lang="en-US" sz="1400" b="1" dirty="0">
                <a:solidFill>
                  <a:srgbClr val="8F7BFF"/>
                </a:solidFill>
                <a:latin typeface="Poppins" pitchFamily="34" charset="0"/>
                <a:ea typeface="Poppins" pitchFamily="34" charset="-122"/>
                <a:cs typeface="Poppins" pitchFamily="34" charset="-120"/>
              </a:rPr>
              <a:t>AWS Cognito</a:t>
            </a:r>
            <a:endParaRPr lang="en-US" sz="1400" dirty="0"/>
          </a:p>
        </p:txBody>
      </p:sp>
      <p:sp>
        <p:nvSpPr>
          <p:cNvPr id="7" name="Text 5"/>
          <p:cNvSpPr/>
          <p:nvPr/>
        </p:nvSpPr>
        <p:spPr>
          <a:xfrm>
            <a:off x="685800" y="2651760"/>
            <a:ext cx="3200400" cy="1097280"/>
          </a:xfrm>
          <a:prstGeom prst="rect">
            <a:avLst/>
          </a:prstGeom>
          <a:noFill/>
          <a:ln/>
        </p:spPr>
        <p:txBody>
          <a:bodyPr wrap="square" rtlCol="0" anchor="ctr"/>
          <a:lstStyle/>
          <a:p>
            <a:pPr indent="0" marL="0">
              <a:lnSpc>
                <a:spcPct val="130000"/>
              </a:lnSpc>
              <a:buNone/>
            </a:pPr>
            <a:r>
              <a:rPr lang="en-US" sz="1150" dirty="0">
                <a:solidFill>
                  <a:srgbClr val="A9B0C6"/>
                </a:solidFill>
                <a:latin typeface="Poppins" pitchFamily="34" charset="0"/>
                <a:ea typeface="Poppins" pitchFamily="34" charset="-122"/>
                <a:cs typeface="Poppins" pitchFamily="34" charset="-120"/>
              </a:rPr>
              <a:t>Replace simulated login with real cloud authentication</a:t>
            </a:r>
            <a:endParaRPr lang="en-US" sz="1150" dirty="0"/>
          </a:p>
        </p:txBody>
      </p:sp>
      <p:sp>
        <p:nvSpPr>
          <p:cNvPr id="8" name="Shape 6"/>
          <p:cNvSpPr/>
          <p:nvPr/>
        </p:nvSpPr>
        <p:spPr>
          <a:xfrm>
            <a:off x="4297680" y="1965960"/>
            <a:ext cx="3611880" cy="1920240"/>
          </a:xfrm>
          <a:prstGeom prst="roundRect">
            <a:avLst>
              <a:gd name="adj" fmla="val 7619"/>
            </a:avLst>
          </a:prstGeom>
          <a:solidFill>
            <a:srgbClr val="161C2E"/>
          </a:solidFill>
          <a:ln w="9525">
            <a:solidFill>
              <a:srgbClr val="6D5EFC"/>
            </a:solidFill>
            <a:prstDash val="solid"/>
          </a:ln>
        </p:spPr>
      </p:sp>
      <p:sp>
        <p:nvSpPr>
          <p:cNvPr id="9" name="Text 7"/>
          <p:cNvSpPr/>
          <p:nvPr/>
        </p:nvSpPr>
        <p:spPr>
          <a:xfrm>
            <a:off x="4526280" y="2148840"/>
            <a:ext cx="3200400" cy="457200"/>
          </a:xfrm>
          <a:prstGeom prst="rect">
            <a:avLst/>
          </a:prstGeom>
          <a:noFill/>
          <a:ln/>
        </p:spPr>
        <p:txBody>
          <a:bodyPr wrap="square" rtlCol="0" anchor="ctr"/>
          <a:lstStyle/>
          <a:p>
            <a:pPr indent="0" marL="0">
              <a:buNone/>
            </a:pPr>
            <a:r>
              <a:rPr lang="en-US" sz="1400" b="1" dirty="0">
                <a:solidFill>
                  <a:srgbClr val="8F7BFF"/>
                </a:solidFill>
                <a:latin typeface="Poppins" pitchFamily="34" charset="0"/>
                <a:ea typeface="Poppins" pitchFamily="34" charset="-122"/>
                <a:cs typeface="Poppins" pitchFamily="34" charset="-120"/>
              </a:rPr>
              <a:t>Live S3 Integration</a:t>
            </a:r>
            <a:endParaRPr lang="en-US" sz="1400" dirty="0"/>
          </a:p>
        </p:txBody>
      </p:sp>
      <p:sp>
        <p:nvSpPr>
          <p:cNvPr id="10" name="Text 8"/>
          <p:cNvSpPr/>
          <p:nvPr/>
        </p:nvSpPr>
        <p:spPr>
          <a:xfrm>
            <a:off x="4526280" y="2651760"/>
            <a:ext cx="3200400" cy="1097280"/>
          </a:xfrm>
          <a:prstGeom prst="rect">
            <a:avLst/>
          </a:prstGeom>
          <a:noFill/>
          <a:ln/>
        </p:spPr>
        <p:txBody>
          <a:bodyPr wrap="square" rtlCol="0" anchor="ctr"/>
          <a:lstStyle/>
          <a:p>
            <a:pPr indent="0" marL="0">
              <a:lnSpc>
                <a:spcPct val="130000"/>
              </a:lnSpc>
              <a:buNone/>
            </a:pPr>
            <a:r>
              <a:rPr lang="en-US" sz="1150" dirty="0">
                <a:solidFill>
                  <a:srgbClr val="A9B0C6"/>
                </a:solidFill>
                <a:latin typeface="Poppins" pitchFamily="34" charset="0"/>
                <a:ea typeface="Poppins" pitchFamily="34" charset="-122"/>
                <a:cs typeface="Poppins" pitchFamily="34" charset="-120"/>
              </a:rPr>
              <a:t>Connect upload/download to a real bucket via pre-signed URLs</a:t>
            </a:r>
            <a:endParaRPr lang="en-US" sz="1150" dirty="0"/>
          </a:p>
        </p:txBody>
      </p:sp>
      <p:sp>
        <p:nvSpPr>
          <p:cNvPr id="11" name="Shape 9"/>
          <p:cNvSpPr/>
          <p:nvPr/>
        </p:nvSpPr>
        <p:spPr>
          <a:xfrm>
            <a:off x="8138160" y="1965960"/>
            <a:ext cx="3611880" cy="1920240"/>
          </a:xfrm>
          <a:prstGeom prst="roundRect">
            <a:avLst>
              <a:gd name="adj" fmla="val 7619"/>
            </a:avLst>
          </a:prstGeom>
          <a:solidFill>
            <a:srgbClr val="161C2E"/>
          </a:solidFill>
          <a:ln w="9525">
            <a:solidFill>
              <a:srgbClr val="6D5EFC"/>
            </a:solidFill>
            <a:prstDash val="solid"/>
          </a:ln>
        </p:spPr>
      </p:sp>
      <p:sp>
        <p:nvSpPr>
          <p:cNvPr id="12" name="Text 10"/>
          <p:cNvSpPr/>
          <p:nvPr/>
        </p:nvSpPr>
        <p:spPr>
          <a:xfrm>
            <a:off x="8366760" y="2148840"/>
            <a:ext cx="3200400" cy="457200"/>
          </a:xfrm>
          <a:prstGeom prst="rect">
            <a:avLst/>
          </a:prstGeom>
          <a:noFill/>
          <a:ln/>
        </p:spPr>
        <p:txBody>
          <a:bodyPr wrap="square" rtlCol="0" anchor="ctr"/>
          <a:lstStyle/>
          <a:p>
            <a:pPr indent="0" marL="0">
              <a:buNone/>
            </a:pPr>
            <a:r>
              <a:rPr lang="en-US" sz="1400" b="1" dirty="0">
                <a:solidFill>
                  <a:srgbClr val="8F7BFF"/>
                </a:solidFill>
                <a:latin typeface="Poppins" pitchFamily="34" charset="0"/>
                <a:ea typeface="Poppins" pitchFamily="34" charset="-122"/>
                <a:cs typeface="Poppins" pitchFamily="34" charset="-120"/>
              </a:rPr>
              <a:t>AWS Lambda</a:t>
            </a:r>
            <a:endParaRPr lang="en-US" sz="1400" dirty="0"/>
          </a:p>
        </p:txBody>
      </p:sp>
      <p:sp>
        <p:nvSpPr>
          <p:cNvPr id="13" name="Text 11"/>
          <p:cNvSpPr/>
          <p:nvPr/>
        </p:nvSpPr>
        <p:spPr>
          <a:xfrm>
            <a:off x="8366760" y="2651760"/>
            <a:ext cx="3200400" cy="1097280"/>
          </a:xfrm>
          <a:prstGeom prst="rect">
            <a:avLst/>
          </a:prstGeom>
          <a:noFill/>
          <a:ln/>
        </p:spPr>
        <p:txBody>
          <a:bodyPr wrap="square" rtlCol="0" anchor="ctr"/>
          <a:lstStyle/>
          <a:p>
            <a:pPr indent="0" marL="0">
              <a:lnSpc>
                <a:spcPct val="130000"/>
              </a:lnSpc>
              <a:buNone/>
            </a:pPr>
            <a:r>
              <a:rPr lang="en-US" sz="1150" dirty="0">
                <a:solidFill>
                  <a:srgbClr val="A9B0C6"/>
                </a:solidFill>
                <a:latin typeface="Poppins" pitchFamily="34" charset="0"/>
                <a:ea typeface="Poppins" pitchFamily="34" charset="-122"/>
                <a:cs typeface="Poppins" pitchFamily="34" charset="-120"/>
              </a:rPr>
              <a:t>Auto-generate certificate thumbnails on upload</a:t>
            </a:r>
            <a:endParaRPr lang="en-US" sz="1150" dirty="0"/>
          </a:p>
        </p:txBody>
      </p:sp>
      <p:sp>
        <p:nvSpPr>
          <p:cNvPr id="14" name="Shape 12"/>
          <p:cNvSpPr/>
          <p:nvPr/>
        </p:nvSpPr>
        <p:spPr>
          <a:xfrm>
            <a:off x="457200" y="4114800"/>
            <a:ext cx="3611880" cy="1920240"/>
          </a:xfrm>
          <a:prstGeom prst="roundRect">
            <a:avLst>
              <a:gd name="adj" fmla="val 7619"/>
            </a:avLst>
          </a:prstGeom>
          <a:solidFill>
            <a:srgbClr val="161C2E"/>
          </a:solidFill>
          <a:ln w="9525">
            <a:solidFill>
              <a:srgbClr val="6D5EFC"/>
            </a:solidFill>
            <a:prstDash val="solid"/>
          </a:ln>
        </p:spPr>
      </p:sp>
      <p:sp>
        <p:nvSpPr>
          <p:cNvPr id="15" name="Text 13"/>
          <p:cNvSpPr/>
          <p:nvPr/>
        </p:nvSpPr>
        <p:spPr>
          <a:xfrm>
            <a:off x="685800" y="4297680"/>
            <a:ext cx="3200400" cy="457200"/>
          </a:xfrm>
          <a:prstGeom prst="rect">
            <a:avLst/>
          </a:prstGeom>
          <a:noFill/>
          <a:ln/>
        </p:spPr>
        <p:txBody>
          <a:bodyPr wrap="square" rtlCol="0" anchor="ctr"/>
          <a:lstStyle/>
          <a:p>
            <a:pPr indent="0" marL="0">
              <a:buNone/>
            </a:pPr>
            <a:r>
              <a:rPr lang="en-US" sz="1400" b="1" dirty="0">
                <a:solidFill>
                  <a:srgbClr val="8F7BFF"/>
                </a:solidFill>
                <a:latin typeface="Poppins" pitchFamily="34" charset="0"/>
                <a:ea typeface="Poppins" pitchFamily="34" charset="-122"/>
                <a:cs typeface="Poppins" pitchFamily="34" charset="-120"/>
              </a:rPr>
              <a:t>CloudFront CDN</a:t>
            </a:r>
            <a:endParaRPr lang="en-US" sz="1400" dirty="0"/>
          </a:p>
        </p:txBody>
      </p:sp>
      <p:sp>
        <p:nvSpPr>
          <p:cNvPr id="16" name="Text 14"/>
          <p:cNvSpPr/>
          <p:nvPr/>
        </p:nvSpPr>
        <p:spPr>
          <a:xfrm>
            <a:off x="685800" y="4800600"/>
            <a:ext cx="3200400" cy="1097280"/>
          </a:xfrm>
          <a:prstGeom prst="rect">
            <a:avLst/>
          </a:prstGeom>
          <a:noFill/>
          <a:ln/>
        </p:spPr>
        <p:txBody>
          <a:bodyPr wrap="square" rtlCol="0" anchor="ctr"/>
          <a:lstStyle/>
          <a:p>
            <a:pPr indent="0" marL="0">
              <a:lnSpc>
                <a:spcPct val="130000"/>
              </a:lnSpc>
              <a:buNone/>
            </a:pPr>
            <a:r>
              <a:rPr lang="en-US" sz="1150" dirty="0">
                <a:solidFill>
                  <a:srgbClr val="A9B0C6"/>
                </a:solidFill>
                <a:latin typeface="Poppins" pitchFamily="34" charset="0"/>
                <a:ea typeface="Poppins" pitchFamily="34" charset="-122"/>
                <a:cs typeface="Poppins" pitchFamily="34" charset="-120"/>
              </a:rPr>
              <a:t>Serve certificate previews faster, globally</a:t>
            </a:r>
            <a:endParaRPr lang="en-US" sz="1150" dirty="0"/>
          </a:p>
        </p:txBody>
      </p:sp>
      <p:sp>
        <p:nvSpPr>
          <p:cNvPr id="17" name="Shape 15"/>
          <p:cNvSpPr/>
          <p:nvPr/>
        </p:nvSpPr>
        <p:spPr>
          <a:xfrm>
            <a:off x="4297680" y="4114800"/>
            <a:ext cx="3611880" cy="1920240"/>
          </a:xfrm>
          <a:prstGeom prst="roundRect">
            <a:avLst>
              <a:gd name="adj" fmla="val 7619"/>
            </a:avLst>
          </a:prstGeom>
          <a:solidFill>
            <a:srgbClr val="161C2E"/>
          </a:solidFill>
          <a:ln w="9525">
            <a:solidFill>
              <a:srgbClr val="6D5EFC"/>
            </a:solidFill>
            <a:prstDash val="solid"/>
          </a:ln>
        </p:spPr>
      </p:sp>
      <p:sp>
        <p:nvSpPr>
          <p:cNvPr id="18" name="Text 16"/>
          <p:cNvSpPr/>
          <p:nvPr/>
        </p:nvSpPr>
        <p:spPr>
          <a:xfrm>
            <a:off x="4526280" y="4297680"/>
            <a:ext cx="3200400" cy="457200"/>
          </a:xfrm>
          <a:prstGeom prst="rect">
            <a:avLst/>
          </a:prstGeom>
          <a:noFill/>
          <a:ln/>
        </p:spPr>
        <p:txBody>
          <a:bodyPr wrap="square" rtlCol="0" anchor="ctr"/>
          <a:lstStyle/>
          <a:p>
            <a:pPr indent="0" marL="0">
              <a:buNone/>
            </a:pPr>
            <a:r>
              <a:rPr lang="en-US" sz="1400" b="1" dirty="0">
                <a:solidFill>
                  <a:srgbClr val="8F7BFF"/>
                </a:solidFill>
                <a:latin typeface="Poppins" pitchFamily="34" charset="0"/>
                <a:ea typeface="Poppins" pitchFamily="34" charset="-122"/>
                <a:cs typeface="Poppins" pitchFamily="34" charset="-120"/>
              </a:rPr>
              <a:t>Amazon SES</a:t>
            </a:r>
            <a:endParaRPr lang="en-US" sz="1400" dirty="0"/>
          </a:p>
        </p:txBody>
      </p:sp>
      <p:sp>
        <p:nvSpPr>
          <p:cNvPr id="19" name="Text 17"/>
          <p:cNvSpPr/>
          <p:nvPr/>
        </p:nvSpPr>
        <p:spPr>
          <a:xfrm>
            <a:off x="4526280" y="4800600"/>
            <a:ext cx="3200400" cy="1097280"/>
          </a:xfrm>
          <a:prstGeom prst="rect">
            <a:avLst/>
          </a:prstGeom>
          <a:noFill/>
          <a:ln/>
        </p:spPr>
        <p:txBody>
          <a:bodyPr wrap="square" rtlCol="0" anchor="ctr"/>
          <a:lstStyle/>
          <a:p>
            <a:pPr indent="0" marL="0">
              <a:lnSpc>
                <a:spcPct val="130000"/>
              </a:lnSpc>
              <a:buNone/>
            </a:pPr>
            <a:r>
              <a:rPr lang="en-US" sz="1150" dirty="0">
                <a:solidFill>
                  <a:srgbClr val="A9B0C6"/>
                </a:solidFill>
                <a:latin typeface="Poppins" pitchFamily="34" charset="0"/>
                <a:ea typeface="Poppins" pitchFamily="34" charset="-122"/>
                <a:cs typeface="Poppins" pitchFamily="34" charset="-120"/>
              </a:rPr>
              <a:t>Send email confirmations on upload</a:t>
            </a:r>
            <a:endParaRPr lang="en-US" sz="1150" dirty="0"/>
          </a:p>
        </p:txBody>
      </p:sp>
      <p:sp>
        <p:nvSpPr>
          <p:cNvPr id="20" name="Shape 18"/>
          <p:cNvSpPr/>
          <p:nvPr/>
        </p:nvSpPr>
        <p:spPr>
          <a:xfrm>
            <a:off x="8138160" y="4114800"/>
            <a:ext cx="3611880" cy="1920240"/>
          </a:xfrm>
          <a:prstGeom prst="roundRect">
            <a:avLst>
              <a:gd name="adj" fmla="val 7619"/>
            </a:avLst>
          </a:prstGeom>
          <a:solidFill>
            <a:srgbClr val="161C2E"/>
          </a:solidFill>
          <a:ln w="9525">
            <a:solidFill>
              <a:srgbClr val="6D5EFC"/>
            </a:solidFill>
            <a:prstDash val="solid"/>
          </a:ln>
        </p:spPr>
      </p:sp>
      <p:sp>
        <p:nvSpPr>
          <p:cNvPr id="21" name="Text 19"/>
          <p:cNvSpPr/>
          <p:nvPr/>
        </p:nvSpPr>
        <p:spPr>
          <a:xfrm>
            <a:off x="8366760" y="4297680"/>
            <a:ext cx="3200400" cy="457200"/>
          </a:xfrm>
          <a:prstGeom prst="rect">
            <a:avLst/>
          </a:prstGeom>
          <a:noFill/>
          <a:ln/>
        </p:spPr>
        <p:txBody>
          <a:bodyPr wrap="square" rtlCol="0" anchor="ctr"/>
          <a:lstStyle/>
          <a:p>
            <a:pPr indent="0" marL="0">
              <a:buNone/>
            </a:pPr>
            <a:r>
              <a:rPr lang="en-US" sz="1400" b="1" dirty="0">
                <a:solidFill>
                  <a:srgbClr val="8F7BFF"/>
                </a:solidFill>
                <a:latin typeface="Poppins" pitchFamily="34" charset="0"/>
                <a:ea typeface="Poppins" pitchFamily="34" charset="-122"/>
                <a:cs typeface="Poppins" pitchFamily="34" charset="-120"/>
              </a:rPr>
              <a:t>Multi-file Upload</a:t>
            </a:r>
            <a:endParaRPr lang="en-US" sz="1400" dirty="0"/>
          </a:p>
        </p:txBody>
      </p:sp>
      <p:sp>
        <p:nvSpPr>
          <p:cNvPr id="22" name="Text 20"/>
          <p:cNvSpPr/>
          <p:nvPr/>
        </p:nvSpPr>
        <p:spPr>
          <a:xfrm>
            <a:off x="8366760" y="4800600"/>
            <a:ext cx="3200400" cy="1097280"/>
          </a:xfrm>
          <a:prstGeom prst="rect">
            <a:avLst/>
          </a:prstGeom>
          <a:noFill/>
          <a:ln/>
        </p:spPr>
        <p:txBody>
          <a:bodyPr wrap="square" rtlCol="0" anchor="ctr"/>
          <a:lstStyle/>
          <a:p>
            <a:pPr indent="0" marL="0">
              <a:lnSpc>
                <a:spcPct val="130000"/>
              </a:lnSpc>
              <a:buNone/>
            </a:pPr>
            <a:r>
              <a:rPr lang="en-US" sz="1150" dirty="0">
                <a:solidFill>
                  <a:srgbClr val="A9B0C6"/>
                </a:solidFill>
                <a:latin typeface="Poppins" pitchFamily="34" charset="0"/>
                <a:ea typeface="Poppins" pitchFamily="34" charset="-122"/>
                <a:cs typeface="Poppins" pitchFamily="34" charset="-120"/>
              </a:rPr>
              <a:t>Upload several certificates in one action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457200" y="411480"/>
            <a:ext cx="2377440" cy="384048"/>
          </a:xfrm>
          <a:prstGeom prst="roundRect">
            <a:avLst>
              <a:gd name="adj" fmla="val 50000"/>
            </a:avLst>
          </a:prstGeom>
          <a:solidFill>
            <a:srgbClr val="33E6A4">
              <a:alpha val="15000"/>
            </a:srgbClr>
          </a:solidFill>
          <a:ln w="12700">
            <a:solidFill>
              <a:srgbClr val="33E6A4"/>
            </a:solidFill>
            <a:prstDash val="solid"/>
          </a:ln>
        </p:spPr>
      </p:sp>
      <p:sp>
        <p:nvSpPr>
          <p:cNvPr id="3" name="Text 1"/>
          <p:cNvSpPr/>
          <p:nvPr/>
        </p:nvSpPr>
        <p:spPr>
          <a:xfrm>
            <a:off x="457200" y="411480"/>
            <a:ext cx="2377440" cy="384048"/>
          </a:xfrm>
          <a:prstGeom prst="rect">
            <a:avLst/>
          </a:prstGeom>
          <a:noFill/>
          <a:ln/>
        </p:spPr>
        <p:txBody>
          <a:bodyPr wrap="square" rtlCol="0" anchor="ctr"/>
          <a:lstStyle/>
          <a:p>
            <a:pPr algn="ctr" indent="0" marL="0">
              <a:buNone/>
            </a:pPr>
            <a:r>
              <a:rPr lang="en-US" sz="1100" b="1" spc="100" kern="0" dirty="0">
                <a:solidFill>
                  <a:srgbClr val="33E6A4"/>
                </a:solidFill>
                <a:latin typeface="Poppins" pitchFamily="34" charset="0"/>
                <a:ea typeface="Poppins" pitchFamily="34" charset="-122"/>
                <a:cs typeface="Poppins" pitchFamily="34" charset="-120"/>
              </a:rPr>
              <a:t>CONCLUSION</a:t>
            </a:r>
            <a:endParaRPr lang="en-US" sz="1100" dirty="0"/>
          </a:p>
        </p:txBody>
      </p:sp>
      <p:sp>
        <p:nvSpPr>
          <p:cNvPr id="4" name="Text 2"/>
          <p:cNvSpPr/>
          <p:nvPr/>
        </p:nvSpPr>
        <p:spPr>
          <a:xfrm>
            <a:off x="457200" y="914400"/>
            <a:ext cx="11247120" cy="822960"/>
          </a:xfrm>
          <a:prstGeom prst="rect">
            <a:avLst/>
          </a:prstGeom>
          <a:noFill/>
          <a:ln/>
        </p:spPr>
        <p:txBody>
          <a:bodyPr wrap="square" lIns="0" tIns="0" rIns="0" bIns="0" rtlCol="0" anchor="ctr"/>
          <a:lstStyle/>
          <a:p>
            <a:pPr indent="0" marL="0">
              <a:buNone/>
            </a:pPr>
            <a:r>
              <a:rPr lang="en-US" sz="3200" b="1" dirty="0">
                <a:solidFill>
                  <a:srgbClr val="F1F3FB"/>
                </a:solidFill>
                <a:latin typeface="Poppins" pitchFamily="34" charset="0"/>
                <a:ea typeface="Poppins" pitchFamily="34" charset="-122"/>
                <a:cs typeface="Poppins" pitchFamily="34" charset="-120"/>
              </a:rPr>
              <a:t>Wrapping up</a:t>
            </a:r>
            <a:endParaRPr lang="en-US" sz="3200" dirty="0"/>
          </a:p>
        </p:txBody>
      </p:sp>
      <p:sp>
        <p:nvSpPr>
          <p:cNvPr id="5" name="Text 3"/>
          <p:cNvSpPr/>
          <p:nvPr/>
        </p:nvSpPr>
        <p:spPr>
          <a:xfrm>
            <a:off x="457200" y="2103120"/>
            <a:ext cx="7315200" cy="2377440"/>
          </a:xfrm>
          <a:prstGeom prst="rect">
            <a:avLst/>
          </a:prstGeom>
          <a:noFill/>
          <a:ln/>
        </p:spPr>
        <p:txBody>
          <a:bodyPr wrap="square" rtlCol="0" anchor="ctr"/>
          <a:lstStyle/>
          <a:p>
            <a:pPr indent="0" marL="0">
              <a:lnSpc>
                <a:spcPct val="150000"/>
              </a:lnSpc>
              <a:buNone/>
            </a:pPr>
            <a:r>
              <a:rPr lang="en-US" sz="1650" dirty="0">
                <a:solidFill>
                  <a:srgbClr val="A9B0C6"/>
                </a:solidFill>
                <a:latin typeface="Poppins" pitchFamily="34" charset="0"/>
                <a:ea typeface="Poppins" pitchFamily="34" charset="-122"/>
                <a:cs typeface="Poppins" pitchFamily="34" charset="-120"/>
              </a:rPr>
              <a:t>CertiVault demonstrates how everyday problems — like keeping track of certificates — can be solved with modern cloud architecture. It combines a clean, professional UI with real Amazon S3 and IAM concepts, built entirely from scratch during this internship.</a:t>
            </a:r>
            <a:endParaRPr lang="en-US" sz="1650" dirty="0"/>
          </a:p>
        </p:txBody>
      </p:sp>
      <p:sp>
        <p:nvSpPr>
          <p:cNvPr id="6" name="Text 4"/>
          <p:cNvSpPr/>
          <p:nvPr/>
        </p:nvSpPr>
        <p:spPr>
          <a:xfrm>
            <a:off x="457200" y="4663440"/>
            <a:ext cx="914400" cy="548640"/>
          </a:xfrm>
          <a:prstGeom prst="rect">
            <a:avLst/>
          </a:prstGeom>
          <a:noFill/>
          <a:ln/>
        </p:spPr>
        <p:txBody>
          <a:bodyPr wrap="square" rtlCol="0" anchor="ctr"/>
          <a:lstStyle/>
          <a:p>
            <a:pPr indent="0" marL="0">
              <a:buNone/>
            </a:pPr>
            <a:r>
              <a:rPr lang="en-US" sz="2800" b="1" dirty="0">
                <a:solidFill>
                  <a:srgbClr val="33E6A4"/>
                </a:solidFill>
                <a:latin typeface="Poppins" pitchFamily="34" charset="0"/>
                <a:ea typeface="Poppins" pitchFamily="34" charset="-122"/>
                <a:cs typeface="Poppins" pitchFamily="34" charset="-120"/>
              </a:rPr>
              <a:t>3</a:t>
            </a:r>
            <a:endParaRPr lang="en-US" sz="2800" dirty="0"/>
          </a:p>
        </p:txBody>
      </p:sp>
      <p:sp>
        <p:nvSpPr>
          <p:cNvPr id="7" name="Text 5"/>
          <p:cNvSpPr/>
          <p:nvPr/>
        </p:nvSpPr>
        <p:spPr>
          <a:xfrm>
            <a:off x="1463040" y="4754880"/>
            <a:ext cx="2743200" cy="457200"/>
          </a:xfrm>
          <a:prstGeom prst="rect">
            <a:avLst/>
          </a:prstGeom>
          <a:noFill/>
          <a:ln/>
        </p:spPr>
        <p:txBody>
          <a:bodyPr wrap="square" rtlCol="0" anchor="ctr"/>
          <a:lstStyle/>
          <a:p>
            <a:pPr indent="0" marL="0">
              <a:buNone/>
            </a:pPr>
            <a:r>
              <a:rPr lang="en-US" sz="1300" dirty="0">
                <a:solidFill>
                  <a:srgbClr val="F1F3FB"/>
                </a:solidFill>
                <a:latin typeface="Poppins" pitchFamily="34" charset="0"/>
                <a:ea typeface="Poppins" pitchFamily="34" charset="-122"/>
                <a:cs typeface="Poppins" pitchFamily="34" charset="-120"/>
              </a:rPr>
              <a:t>Certificate Categories</a:t>
            </a:r>
            <a:endParaRPr lang="en-US" sz="1300" dirty="0"/>
          </a:p>
        </p:txBody>
      </p:sp>
      <p:sp>
        <p:nvSpPr>
          <p:cNvPr id="8" name="Text 6"/>
          <p:cNvSpPr/>
          <p:nvPr/>
        </p:nvSpPr>
        <p:spPr>
          <a:xfrm>
            <a:off x="457200" y="5303520"/>
            <a:ext cx="914400" cy="548640"/>
          </a:xfrm>
          <a:prstGeom prst="rect">
            <a:avLst/>
          </a:prstGeom>
          <a:noFill/>
          <a:ln/>
        </p:spPr>
        <p:txBody>
          <a:bodyPr wrap="square" rtlCol="0" anchor="ctr"/>
          <a:lstStyle/>
          <a:p>
            <a:pPr indent="0" marL="0">
              <a:buNone/>
            </a:pPr>
            <a:r>
              <a:rPr lang="en-US" sz="2800" b="1" dirty="0">
                <a:solidFill>
                  <a:srgbClr val="33E6A4"/>
                </a:solidFill>
                <a:latin typeface="Poppins" pitchFamily="34" charset="0"/>
                <a:ea typeface="Poppins" pitchFamily="34" charset="-122"/>
                <a:cs typeface="Poppins" pitchFamily="34" charset="-120"/>
              </a:rPr>
              <a:t>7</a:t>
            </a:r>
            <a:endParaRPr lang="en-US" sz="2800" dirty="0"/>
          </a:p>
        </p:txBody>
      </p:sp>
      <p:sp>
        <p:nvSpPr>
          <p:cNvPr id="9" name="Text 7"/>
          <p:cNvSpPr/>
          <p:nvPr/>
        </p:nvSpPr>
        <p:spPr>
          <a:xfrm>
            <a:off x="1463040" y="5394960"/>
            <a:ext cx="2743200" cy="457200"/>
          </a:xfrm>
          <a:prstGeom prst="rect">
            <a:avLst/>
          </a:prstGeom>
          <a:noFill/>
          <a:ln/>
        </p:spPr>
        <p:txBody>
          <a:bodyPr wrap="square" rtlCol="0" anchor="ctr"/>
          <a:lstStyle/>
          <a:p>
            <a:pPr indent="0" marL="0">
              <a:buNone/>
            </a:pPr>
            <a:r>
              <a:rPr lang="en-US" sz="1300" dirty="0">
                <a:solidFill>
                  <a:srgbClr val="F1F3FB"/>
                </a:solidFill>
                <a:latin typeface="Poppins" pitchFamily="34" charset="0"/>
                <a:ea typeface="Poppins" pitchFamily="34" charset="-122"/>
                <a:cs typeface="Poppins" pitchFamily="34" charset="-120"/>
              </a:rPr>
              <a:t>Pages Built</a:t>
            </a:r>
            <a:endParaRPr lang="en-US" sz="1300" dirty="0"/>
          </a:p>
        </p:txBody>
      </p:sp>
      <p:sp>
        <p:nvSpPr>
          <p:cNvPr id="10" name="Text 8"/>
          <p:cNvSpPr/>
          <p:nvPr/>
        </p:nvSpPr>
        <p:spPr>
          <a:xfrm>
            <a:off x="457200" y="5943600"/>
            <a:ext cx="914400" cy="548640"/>
          </a:xfrm>
          <a:prstGeom prst="rect">
            <a:avLst/>
          </a:prstGeom>
          <a:noFill/>
          <a:ln/>
        </p:spPr>
        <p:txBody>
          <a:bodyPr wrap="square" rtlCol="0" anchor="ctr"/>
          <a:lstStyle/>
          <a:p>
            <a:pPr indent="0" marL="0">
              <a:buNone/>
            </a:pPr>
            <a:r>
              <a:rPr lang="en-US" sz="2800" b="1" dirty="0">
                <a:solidFill>
                  <a:srgbClr val="33E6A4"/>
                </a:solidFill>
                <a:latin typeface="Poppins" pitchFamily="34" charset="0"/>
                <a:ea typeface="Poppins" pitchFamily="34" charset="-122"/>
                <a:cs typeface="Poppins" pitchFamily="34" charset="-120"/>
              </a:rPr>
              <a:t>2</a:t>
            </a:r>
            <a:endParaRPr lang="en-US" sz="2800" dirty="0"/>
          </a:p>
        </p:txBody>
      </p:sp>
      <p:sp>
        <p:nvSpPr>
          <p:cNvPr id="11" name="Text 9"/>
          <p:cNvSpPr/>
          <p:nvPr/>
        </p:nvSpPr>
        <p:spPr>
          <a:xfrm>
            <a:off x="1463040" y="6035040"/>
            <a:ext cx="2743200" cy="457200"/>
          </a:xfrm>
          <a:prstGeom prst="rect">
            <a:avLst/>
          </a:prstGeom>
          <a:noFill/>
          <a:ln/>
        </p:spPr>
        <p:txBody>
          <a:bodyPr wrap="square" rtlCol="0" anchor="ctr"/>
          <a:lstStyle/>
          <a:p>
            <a:pPr indent="0" marL="0">
              <a:buNone/>
            </a:pPr>
            <a:r>
              <a:rPr lang="en-US" sz="1300" dirty="0">
                <a:solidFill>
                  <a:srgbClr val="F1F3FB"/>
                </a:solidFill>
                <a:latin typeface="Poppins" pitchFamily="34" charset="0"/>
                <a:ea typeface="Poppins" pitchFamily="34" charset="-122"/>
                <a:cs typeface="Poppins" pitchFamily="34" charset="-120"/>
              </a:rPr>
              <a:t>Core AWS Services</a:t>
            </a:r>
            <a:endParaRPr lang="en-US" sz="1300" dirty="0"/>
          </a:p>
        </p:txBody>
      </p:sp>
      <p:sp>
        <p:nvSpPr>
          <p:cNvPr id="12" name="Shape 10"/>
          <p:cNvSpPr/>
          <p:nvPr/>
        </p:nvSpPr>
        <p:spPr>
          <a:xfrm>
            <a:off x="8138160" y="2103120"/>
            <a:ext cx="3566160" cy="4023360"/>
          </a:xfrm>
          <a:prstGeom prst="roundRect">
            <a:avLst>
              <a:gd name="adj" fmla="val 4615"/>
            </a:avLst>
          </a:prstGeom>
          <a:solidFill>
            <a:srgbClr val="161C2E"/>
          </a:solidFill>
          <a:ln/>
        </p:spPr>
      </p:sp>
      <p:sp>
        <p:nvSpPr>
          <p:cNvPr id="13" name="Text 11"/>
          <p:cNvSpPr/>
          <p:nvPr/>
        </p:nvSpPr>
        <p:spPr>
          <a:xfrm>
            <a:off x="8412480" y="2377440"/>
            <a:ext cx="3017520" cy="365760"/>
          </a:xfrm>
          <a:prstGeom prst="rect">
            <a:avLst/>
          </a:prstGeom>
          <a:noFill/>
          <a:ln/>
        </p:spPr>
        <p:txBody>
          <a:bodyPr wrap="square" rtlCol="0" anchor="ctr"/>
          <a:lstStyle/>
          <a:p>
            <a:pPr indent="0" marL="0">
              <a:buNone/>
            </a:pPr>
            <a:r>
              <a:rPr lang="en-US" sz="1300" b="1" dirty="0">
                <a:solidFill>
                  <a:srgbClr val="24D3EE"/>
                </a:solidFill>
                <a:latin typeface="Poppins" pitchFamily="34" charset="0"/>
                <a:ea typeface="Poppins" pitchFamily="34" charset="-122"/>
                <a:cs typeface="Poppins" pitchFamily="34" charset="-120"/>
              </a:rPr>
              <a:t>Key takeaway</a:t>
            </a:r>
            <a:endParaRPr lang="en-US" sz="1300" dirty="0"/>
          </a:p>
        </p:txBody>
      </p:sp>
      <p:sp>
        <p:nvSpPr>
          <p:cNvPr id="14" name="Text 12"/>
          <p:cNvSpPr/>
          <p:nvPr/>
        </p:nvSpPr>
        <p:spPr>
          <a:xfrm>
            <a:off x="8412480" y="2880360"/>
            <a:ext cx="3017520" cy="3017520"/>
          </a:xfrm>
          <a:prstGeom prst="rect">
            <a:avLst/>
          </a:prstGeom>
          <a:noFill/>
          <a:ln/>
        </p:spPr>
        <p:txBody>
          <a:bodyPr wrap="square" rtlCol="0" anchor="ctr"/>
          <a:lstStyle/>
          <a:p>
            <a:pPr indent="0" marL="0">
              <a:lnSpc>
                <a:spcPct val="140000"/>
              </a:lnSpc>
              <a:buNone/>
            </a:pPr>
            <a:r>
              <a:rPr lang="en-US" sz="1300" i="1" dirty="0">
                <a:solidFill>
                  <a:srgbClr val="A9B0C6"/>
                </a:solidFill>
                <a:latin typeface="Poppins" pitchFamily="34" charset="0"/>
                <a:ea typeface="Poppins" pitchFamily="34" charset="-122"/>
                <a:cs typeface="Poppins" pitchFamily="34" charset="-120"/>
              </a:rPr>
              <a:t>Good cloud design isn't about complexity — it's about the right service for the right job, secured the right way.</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F1A"/>
        </a:solidFill>
      </p:bgPr>
    </p:bg>
    <p:spTree>
      <p:nvGrpSpPr>
        <p:cNvPr id="1" name=""/>
        <p:cNvGrpSpPr/>
        <p:nvPr/>
      </p:nvGrpSpPr>
      <p:grpSpPr>
        <a:xfrm>
          <a:off x="0" y="0"/>
          <a:ext cx="0" cy="0"/>
          <a:chOff x="0" y="0"/>
          <a:chExt cx="0" cy="0"/>
        </a:xfrm>
      </p:grpSpPr>
      <p:sp>
        <p:nvSpPr>
          <p:cNvPr id="2" name="Shape 0"/>
          <p:cNvSpPr/>
          <p:nvPr/>
        </p:nvSpPr>
        <p:spPr>
          <a:xfrm>
            <a:off x="-2286000" y="4114800"/>
            <a:ext cx="5486400" cy="5486400"/>
          </a:xfrm>
          <a:prstGeom prst="ellipse">
            <a:avLst/>
          </a:prstGeom>
          <a:solidFill>
            <a:srgbClr val="6D5EFC">
              <a:alpha val="20000"/>
            </a:srgbClr>
          </a:solidFill>
          <a:ln/>
        </p:spPr>
      </p:sp>
      <p:sp>
        <p:nvSpPr>
          <p:cNvPr id="3" name="Shape 1"/>
          <p:cNvSpPr/>
          <p:nvPr/>
        </p:nvSpPr>
        <p:spPr>
          <a:xfrm>
            <a:off x="9144000" y="-1828800"/>
            <a:ext cx="5029200" cy="5029200"/>
          </a:xfrm>
          <a:prstGeom prst="ellipse">
            <a:avLst/>
          </a:prstGeom>
          <a:solidFill>
            <a:srgbClr val="24D3EE">
              <a:alpha val="18000"/>
            </a:srgbClr>
          </a:solidFill>
          <a:ln/>
        </p:spPr>
      </p:sp>
      <p:sp>
        <p:nvSpPr>
          <p:cNvPr id="4" name="Text 2"/>
          <p:cNvSpPr/>
          <p:nvPr/>
        </p:nvSpPr>
        <p:spPr>
          <a:xfrm>
            <a:off x="0" y="2468880"/>
            <a:ext cx="12161520" cy="1097280"/>
          </a:xfrm>
          <a:prstGeom prst="rect">
            <a:avLst/>
          </a:prstGeom>
          <a:noFill/>
          <a:ln/>
        </p:spPr>
        <p:txBody>
          <a:bodyPr wrap="square" rtlCol="0" anchor="ctr"/>
          <a:lstStyle/>
          <a:p>
            <a:pPr algn="ctr" indent="0" marL="0">
              <a:buNone/>
            </a:pPr>
            <a:r>
              <a:rPr lang="en-US" sz="5000" b="1" dirty="0">
                <a:solidFill>
                  <a:srgbClr val="F1F3FB"/>
                </a:solidFill>
                <a:latin typeface="Poppins" pitchFamily="34" charset="0"/>
                <a:ea typeface="Poppins" pitchFamily="34" charset="-122"/>
                <a:cs typeface="Poppins" pitchFamily="34" charset="-120"/>
              </a:rPr>
              <a:t>Thank You</a:t>
            </a:r>
            <a:endParaRPr lang="en-US" sz="5000" dirty="0"/>
          </a:p>
        </p:txBody>
      </p:sp>
      <p:sp>
        <p:nvSpPr>
          <p:cNvPr id="5" name="Text 3"/>
          <p:cNvSpPr/>
          <p:nvPr/>
        </p:nvSpPr>
        <p:spPr>
          <a:xfrm>
            <a:off x="0" y="3520440"/>
            <a:ext cx="12161520" cy="548640"/>
          </a:xfrm>
          <a:prstGeom prst="rect">
            <a:avLst/>
          </a:prstGeom>
          <a:noFill/>
          <a:ln/>
        </p:spPr>
        <p:txBody>
          <a:bodyPr wrap="square" rtlCol="0" anchor="ctr"/>
          <a:lstStyle/>
          <a:p>
            <a:pPr algn="ctr" indent="0" marL="0">
              <a:buNone/>
            </a:pPr>
            <a:r>
              <a:rPr lang="en-US" sz="1800" dirty="0">
                <a:solidFill>
                  <a:srgbClr val="24D3EE"/>
                </a:solidFill>
                <a:latin typeface="Poppins" pitchFamily="34" charset="0"/>
                <a:ea typeface="Poppins" pitchFamily="34" charset="-122"/>
                <a:cs typeface="Poppins" pitchFamily="34" charset="-120"/>
              </a:rPr>
              <a:t>Questions &amp; Discussion</a:t>
            </a:r>
            <a:endParaRPr lang="en-US" sz="1800" dirty="0"/>
          </a:p>
        </p:txBody>
      </p:sp>
      <p:sp>
        <p:nvSpPr>
          <p:cNvPr id="6" name="Text 4"/>
          <p:cNvSpPr/>
          <p:nvPr/>
        </p:nvSpPr>
        <p:spPr>
          <a:xfrm>
            <a:off x="0" y="5120640"/>
            <a:ext cx="12161520" cy="457200"/>
          </a:xfrm>
          <a:prstGeom prst="rect">
            <a:avLst/>
          </a:prstGeom>
          <a:noFill/>
          <a:ln/>
        </p:spPr>
        <p:txBody>
          <a:bodyPr wrap="square" rtlCol="0" anchor="ctr"/>
          <a:lstStyle/>
          <a:p>
            <a:pPr algn="ctr" indent="0" marL="0">
              <a:buNone/>
            </a:pPr>
            <a:r>
              <a:rPr lang="en-US" sz="1300" dirty="0">
                <a:solidFill>
                  <a:srgbClr val="A9B0C6"/>
                </a:solidFill>
                <a:latin typeface="Poppins" pitchFamily="34" charset="0"/>
                <a:ea typeface="Poppins" pitchFamily="34" charset="-122"/>
                <a:cs typeface="Poppins" pitchFamily="34" charset="-120"/>
              </a:rPr>
              <a:t>Prateek  •  B.Tech ECE  •  IBM Cloud Computing Internship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2026-07-16T23:16:33Z</dcterms:created>
  <dcterms:modified xsi:type="dcterms:W3CDTF">2026-07-16T23:16:33Z</dcterms:modified>
</cp:coreProperties>
</file>